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df8c3103144107" /><Relationship Type="http://schemas.openxmlformats.org/officeDocument/2006/relationships/extended-properties" Target="/docProps/app.xml" Id="R4fbdf34f3c0e46b4" /><Relationship Type="http://schemas.openxmlformats.org/officeDocument/2006/relationships/officeDocument" Target="/ppt/presentation.xml" Id="R26c52b84c4934b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7a3f549d8841f8"/>
  </p:sldMasterIdLst>
  <p:notesMasterIdLst>
    <p:notesMasterId xmlns:r="http://schemas.openxmlformats.org/officeDocument/2006/relationships" r:id="R04e6b08984cf4441"/>
  </p:notesMasterIdLst>
  <p:sldIdLst>
    <p:sldId xmlns:r="http://schemas.openxmlformats.org/officeDocument/2006/relationships" id="256" r:id="R5996128b57a744d2"/>
    <p:sldId xmlns:r="http://schemas.openxmlformats.org/officeDocument/2006/relationships" id="257" r:id="R3c5e065a5dc3429f"/>
    <p:sldId xmlns:r="http://schemas.openxmlformats.org/officeDocument/2006/relationships" id="258" r:id="R26343699c695424a"/>
    <p:sldId xmlns:r="http://schemas.openxmlformats.org/officeDocument/2006/relationships" id="259" r:id="R58608e0d8324479f"/>
    <p:sldId xmlns:r="http://schemas.openxmlformats.org/officeDocument/2006/relationships" id="260" r:id="R9b1fa57114f445d5"/>
    <p:sldId xmlns:r="http://schemas.openxmlformats.org/officeDocument/2006/relationships" id="261" r:id="Rf628f329524c47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4bc3f2c5dc4a4a" /><Relationship Type="http://schemas.openxmlformats.org/officeDocument/2006/relationships/slideMaster" Target="/ppt/slideMasters/slideMaster1.xml" Id="R3b7a3f549d8841f8" /><Relationship Type="http://schemas.openxmlformats.org/officeDocument/2006/relationships/notesMaster" Target="/ppt/notesMasters/notesMaster1.xml" Id="R04e6b08984cf4441" /><Relationship Type="http://schemas.openxmlformats.org/officeDocument/2006/relationships/presProps" Target="/ppt/presProps.xml" Id="Ra48559cb184a475d" /><Relationship Type="http://schemas.openxmlformats.org/officeDocument/2006/relationships/tableStyles" Target="/ppt/tableStyles.xml" Id="R19a8cff479704bca" /><Relationship Type="http://schemas.openxmlformats.org/officeDocument/2006/relationships/slide" Target="/ppt/slides/slide1.xml" Id="R5996128b57a744d2" /><Relationship Type="http://schemas.openxmlformats.org/officeDocument/2006/relationships/slide" Target="/ppt/slides/slide2.xml" Id="R3c5e065a5dc3429f" /><Relationship Type="http://schemas.openxmlformats.org/officeDocument/2006/relationships/slide" Target="/ppt/slides/slide3.xml" Id="R26343699c695424a" /><Relationship Type="http://schemas.openxmlformats.org/officeDocument/2006/relationships/slide" Target="/ppt/slides/slide4.xml" Id="R58608e0d8324479f" /><Relationship Type="http://schemas.openxmlformats.org/officeDocument/2006/relationships/slide" Target="/ppt/slides/slide5.xml" Id="R9b1fa57114f445d5" /><Relationship Type="http://schemas.openxmlformats.org/officeDocument/2006/relationships/slide" Target="/ppt/slides/slide6.xml" Id="Rf628f329524c47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62711519184c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fb6ba7b8e84e9b" /><Relationship Type="http://schemas.openxmlformats.org/officeDocument/2006/relationships/notesMaster" Target="/ppt/notesMasters/notesMaster1.xml" Id="Rb6b5523365ca4c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4fb769ea0c4efc" /><Relationship Type="http://schemas.openxmlformats.org/officeDocument/2006/relationships/notesMaster" Target="/ppt/notesMasters/notesMaster1.xml" Id="Rc38a10f29d794e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761db73ffc4e88" /><Relationship Type="http://schemas.openxmlformats.org/officeDocument/2006/relationships/notesMaster" Target="/ppt/notesMasters/notesMaster1.xml" Id="R79a8fc56002f4a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65f1260da44c13" /><Relationship Type="http://schemas.openxmlformats.org/officeDocument/2006/relationships/notesMaster" Target="/ppt/notesMasters/notesMaster1.xml" Id="R785df3c6df4d45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47d9fcaae74aed" /><Relationship Type="http://schemas.openxmlformats.org/officeDocument/2006/relationships/notesMaster" Target="/ppt/notesMasters/notesMaster1.xml" Id="R7fdf0d0844a149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ff63c73ec94b72" /><Relationship Type="http://schemas.openxmlformats.org/officeDocument/2006/relationships/notesMaster" Target="/ppt/notesMasters/notesMaster1.xml" Id="R0b73823928ee48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1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2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3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4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5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6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aa447ebcd4c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e1a782c3ff4896" /><Relationship Type="http://schemas.openxmlformats.org/officeDocument/2006/relationships/slideLayout" Target="/ppt/slideLayouts/slideLayout1.xml" Id="Ra68680f5693149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8680f5693149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483f5f17844f7" /><Relationship Type="http://schemas.openxmlformats.org/officeDocument/2006/relationships/notesSlide" Target="/ppt/notesSlides/notesSlide1.xml" Id="Rb7dc1e0a75dd4c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e30f7aa004b03" /><Relationship Type="http://schemas.openxmlformats.org/officeDocument/2006/relationships/notesSlide" Target="/ppt/notesSlides/notesSlide2.xml" Id="R0e1c0257d7bb4b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4343dcbea45af" /><Relationship Type="http://schemas.openxmlformats.org/officeDocument/2006/relationships/notesSlide" Target="/ppt/notesSlides/notesSlide3.xml" Id="Rb3659e212a2244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edc1816cc4deb" /><Relationship Type="http://schemas.openxmlformats.org/officeDocument/2006/relationships/image" Target="/ppt/media/image.png" Id="Ra1b084634f9c4962" /><Relationship Type="http://schemas.openxmlformats.org/officeDocument/2006/relationships/notesSlide" Target="/ppt/notesSlides/notesSlide4.xml" Id="R229f38ec518b41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6b61d46bc4c62" /><Relationship Type="http://schemas.openxmlformats.org/officeDocument/2006/relationships/notesSlide" Target="/ppt/notesSlides/notesSlide5.xml" Id="Rc102c2b8672c43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8c48b4d2a440b" /><Relationship Type="http://schemas.openxmlformats.org/officeDocument/2006/relationships/notesSlide" Target="/ppt/notesSlides/notesSlide6.xml" Id="Ra4b0b33b614e4c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6E4E23-07D5-480E-A51C-257C1049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99732-9D73-4FAF-ABAB-B5AF48D0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94731-8BC6-4CBA-8458-12125E48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47625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A2BD2-58C4-4EE4-AA16-4A29F05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AC3DD-AF1E-4639-BA67-20C71102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EFFA"/>
                </a:solidFill>
                <a:latin typeface="Aptos"/>
                <a:ea typeface="Aptos"/>
                <a:cs typeface="Aptos"/>
              </a:rPr>
              <a:t>Hybrid Quantum × Clinical AI</a:t>
            </a:r>
          </a:p>
          <a:p xmlns:a="http://schemas.openxmlformats.org/drawingml/2006/main">
            <a:pPr>
              <a:defRPr sz="2025" b="1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EFFA"/>
                </a:solidFill>
                <a:latin typeface="Aptos"/>
                <a:ea typeface="Aptos"/>
                <a:cs typeface="Aptos"/>
              </a:rPr>
              <a:t>Screening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8A90A-F74A-4332-932D-1F2ABED6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Early disease screening across structured clinical data and medical 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D8322-4A39-4459-B455-BF75571C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333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0E9FE-5D6C-4FAB-BD78-3E4BDAA4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C8C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C8C81"/>
                </a:solidFill>
                <a:latin typeface="Aptos"/>
                <a:ea typeface="Aptos"/>
                <a:cs typeface="Aptos"/>
              </a:rPr>
              <a:t>SIH26139  ·  HEALTH TECH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CC4E4-E060-4752-98B5-41E1F7FA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AlgoX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628B0-D942-4405-9C80-B23BD9A0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D2E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D2E5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4B657-63EE-4739-AA5D-429AA0B1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04875"/>
            <a:ext cx="58102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2AEF2-22F8-4A74-8B9B-1A0829BF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257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THE CLINICAL SCREENING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A492E-D145-408D-BD5F-2703B102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90750"/>
            <a:ext cx="1066800" cy="13525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EB753-159A-458D-822C-30099CC1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A9B65-2B57-4D0C-B47D-37C00DF7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C0ECA-06E8-4E8C-BA85-1290D4FE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337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6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Clinical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00A4A-E627-41E7-AAB5-FE3EE42B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62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41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Forms + images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7A75F-6283-400D-B2A9-A7B4F067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56D44-4373-478B-88EF-05E95EF9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190750"/>
            <a:ext cx="1066800" cy="13525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DB0EF-C7AF-4201-99BA-E30D8C37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52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94B87-EECE-45DD-903F-F19723B5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FD45F-DFE7-45FD-A527-ABFF6041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9337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96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Feature pathway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EA9F4-C638-4602-930C-71CBF00D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362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26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Classical reduction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4028C-09E2-4C5A-8908-B68A1911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26464-807D-4599-B13B-FA599EBB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90750"/>
            <a:ext cx="1066800" cy="13525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4B94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DAD27-E161-4A4A-A5F3-917A2260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52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40B1D-5287-400D-BF91-89E1A12D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D7B3BE-BD16-49CE-AEAE-DC2B3168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9337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41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Quantum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6EABD-C236-4A35-BFF7-745FA65C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62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2-qubit VQC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F8DEC9-F18E-4DA8-B752-1E45B29E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28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61C7B2-5EB1-4943-BAEF-9240F4DB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190750"/>
            <a:ext cx="1066800" cy="13525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075BEB-CB06-43D4-90B0-94A2E8F1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52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428923-3E18-411D-A156-5620BBB9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F18076-3AA1-4D4E-8516-F2D451E5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337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71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Screening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E1BEEE-0E65-4614-9818-843A7B8A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62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Risk +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0F798E-60D2-4B75-A130-B9123B74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245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7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4747"/>
                </a:solidFill>
                <a:latin typeface="Aptos"/>
                <a:ea typeface="Aptos"/>
                <a:cs typeface="Aptos"/>
              </a:rPr>
              <a:t>Research prototype · decision support only · not for clinical diagnosis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71EA51-5556-4FF8-B8A8-41576C5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198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E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B74DB5-A2A2-4478-B6BA-EDC61042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15315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Problem Statement: Hybrid Quantum Machine Learning Platform for Early Disease Detection</a:t>
            </a:r>
          </a:p>
        </p:txBody>
      </p:sp>
    </p:spTree>
    <p:extLst>
      <p:ext uri="{BB962C8B-B14F-4D97-AF65-F5344CB8AC3E}">
        <p14:creationId xmlns:p14="http://schemas.microsoft.com/office/powerpoint/2010/main" val="1086459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EB5AFA-3DDF-40D6-8C91-148089AA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Clinical screening needs a practical hybrid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FDDCC-4FD6-415D-A9A0-01498BA9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High-dimensional inputs meet limited near-term quantum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20014-BBEA-4288-A62D-2CB70567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FCDA8-3755-4EA0-976B-F712BBFE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6B9C7-F744-4D4F-A437-57AF1CF3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INDIA HACKATHON 2026  ·  TEAM ALGOX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0857D-4BA6-418B-8AB2-72482687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052CB-CB08-4E86-A5E3-24C3FDC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3333750" cy="42100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516B-549D-4E5F-8845-66DE5CBD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7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4747"/>
                </a:solidFill>
                <a:latin typeface="Aptos"/>
                <a:ea typeface="Aptos"/>
                <a:cs typeface="Aptos"/>
              </a:rPr>
              <a:t>THE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6D430-59E0-4D23-8414-DCCF3C02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Complex biomedical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B2E7B-CE85-4517-BB42-37C5E8A3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9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Early screening can combine tabular clinical context with medical images. A usable system must keep the clinician in the loop and avoid sending high-dimensional inputs straight to a small quantum circuit.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72CE7-5DBD-458A-ABE0-603488A1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657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E9371-EFBA-433F-BFD2-32D1C9AA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1657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747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4747"/>
                </a:solidFill>
                <a:latin typeface="Aptos"/>
                <a:ea typeface="Aptos"/>
                <a:cs typeface="Aptos"/>
              </a:rPr>
              <a:t>No diagnosis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52CFC-5199-4783-96C8-F4CBEE45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B0C64-DF8F-4C40-9F35-1641F69D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Prototype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04BEF-38EC-4B81-8855-37C8E732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257300"/>
            <a:ext cx="73914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0D9BD-A7F8-45A0-ACA3-07D7018D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62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MEDQUBE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8BB0C-9471-407B-AD43-7AA640E4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40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Classical intelligence where it fits. Quantum gating where it is tractable.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36CC4-9F9F-4D2A-AE5A-2040D81E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38450"/>
            <a:ext cx="1352550" cy="16002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9619E-6A38-4FF7-90A9-5760E849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7E27A-829F-4EA6-A806-7570D766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B92E1-447F-45EE-9D41-494B4C69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099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0F9F1-ADD1-4B57-A954-3A6733E0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14750"/>
            <a:ext cx="108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Clinical form or image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10BD4-B383-4132-9BA1-66C3E5D7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1986A-B3A4-4298-9500-EFFD650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1352550" cy="16002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0D6A1-6488-4051-A9B9-9C6B218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82118-8F4B-411D-BCF4-3E560198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165075-CBB8-464C-AF29-7BE20E53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68FC91-B1D4-4734-A611-B34C3125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108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Validate, normalize, reduce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068B6-1429-496F-B09D-B635838D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71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21CA95-47F2-42D2-B2FA-0600B98F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1352550" cy="16002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87224F-DFF8-4958-8E9B-83920D6A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A5E788-57ED-4084-A43E-AD1D4439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2ACF0C-FE44-407B-B8C8-BEE0F463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D5F37C-0EA1-40BA-A5F1-FA3DA9B7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08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2-qubit variational circuit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497FF-C4B4-48FA-862D-33D94EA8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71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1F112C-F21F-42CA-A24E-A5ED7A1A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38450"/>
            <a:ext cx="1352550" cy="16002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13DE3B-063C-4697-8A9C-9F12FD50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235C79-60B4-4258-BDD5-6CB838B3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7CE434-2166-45B7-8C7E-8945392C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099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9CF403-9E94-4907-994F-CAE79CAE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14750"/>
            <a:ext cx="108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Risk view and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DF0B2A-0136-4950-9DFD-B9F4FE0B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0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93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8C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8C81"/>
                </a:solidFill>
                <a:latin typeface="Aptos"/>
                <a:ea typeface="Aptos"/>
                <a:cs typeface="Aptos"/>
              </a:rPr>
              <a:t>Quantum component operates on compressed intermediate features, not raw medical records or full-resolution images.</a:t>
            </a:r>
          </a:p>
        </p:txBody>
      </p:sp>
    </p:spTree>
    <p:extLst>
      <p:ext uri="{BB962C8B-B14F-4D97-AF65-F5344CB8AC3E}">
        <p14:creationId xmlns:p14="http://schemas.microsoft.com/office/powerpoint/2010/main" val="1156503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27C22A-36E5-4185-89B2-83F4669D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Quantum-gated branch zooming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8DAC1-F4A1-4E44-A0ED-034BB239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Implemented training notebook for the skin-image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73561-4C75-420E-AED1-76030A2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84BCC-411C-4206-A1AE-45E41046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2A18D-1AF4-4C69-B8FC-2CD07D5B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INDIA HACKATHON 2026  ·  TEAM ALGOX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8869E-CF21-4DD1-8607-5A051419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7E6AC-7FB3-4088-B112-0D9A01B8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436245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F30DD-C3EF-478D-ACDD-4B87F8D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IMAGE PATHWAY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058DF-779E-42C4-BB8D-DC3A01D6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D682A-403C-49DF-BC80-E8E74221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E7A9A-F1BB-4FCE-9FA1-D1B1C3CB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B5B06-53F3-4C59-B77C-565D998B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7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Dermoscopic image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E309F-681D-440F-83E4-0C34DD24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4C21A-8B2D-47DC-AD62-C15F561F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F2961-F428-4DF6-8B83-7B7FADFA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400A3-50B0-431F-9EE2-DAC16C60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093F9-5734-492F-ABA9-4C3F61CC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80413-05A8-46DA-A877-AB117905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4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ResNet18 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729BB-C4FA-4A67-8C40-E34A8992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Pretrained backbone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7A647-BAEA-47B1-B4A4-E28BFC78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7D4FF-C0C5-4595-AEC5-F91106E3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DC929-5CB2-4FFA-8968-0F20D770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3F189-9494-40F7-B783-B557A477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DF840-55A1-44B7-94D2-545CE06F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Layer 3 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77F254-291A-4C0B-9674-7464E0B9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256 channels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CE115-5363-4362-A12B-B5DAA033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6F7A1D-1044-4B4F-AD54-06997CEE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4B94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0AF072-909A-4785-996F-AA8D7E24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97B5E-886B-44DF-8752-83A7FB70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D83514-46FD-4A7F-82E4-7C73AD1F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2-qubit VQC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DAA8B9-DA00-4031-9E38-C1C77E59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2 layers</a:t>
            </a:r>
          </a:p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angle embedding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E796F-1D69-44C9-818B-0D9B8183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D846D4-DF53-4FE0-92EF-7FEC82CD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209699-70F3-4F4F-AFA8-F1059C39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8277DE-1810-4CA6-AA95-BCA0584B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EF0C85-29AE-4E90-9B71-37A32FB9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5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256-channel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0E08E5-105B-4F29-AB37-50D7E112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Sigmoid weighting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CA023C-CC51-4642-BC1C-0F3C44E0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F75506-B4C7-4EDC-B968-B3B56DDB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1B3BC5-2263-4FA3-8390-EB4D7CBD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AD8476-600B-4263-A6A3-BF1F41E5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355582-3804-4EC2-9982-891E73B7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7-class head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244DA4-9B1A-41A2-95DF-E910A14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AKIEC · BCC · BKL</a:t>
            </a:r>
          </a:p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DF · MEL · NV · VASC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9A8B9A-13D5-4B5E-B577-C7D051E3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Training configuration in repository: 70/15/15 split, seed 42, batch size 32, learning rate 5e-5, up to 20 epochs.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11DCD3-7ABD-4FED-A972-9882B5C2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EC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D9647A-84BF-42CF-86EE-551DEFB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4747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A3057C-673E-4018-B24D-01E0812F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673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The notebook describes the architecture and training setup. No validated accuracy, sensitivity, or clinical performance metric is presented in this deck.</a:t>
            </a:r>
          </a:p>
        </p:txBody>
      </p:sp>
    </p:spTree>
    <p:extLst>
      <p:ext uri="{BB962C8B-B14F-4D97-AF65-F5344CB8AC3E}">
        <p14:creationId xmlns:p14="http://schemas.microsoft.com/office/powerpoint/2010/main" val="1644825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735DF-644D-41BE-A9CC-5BB0F0EB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Prototype: clinician-centered screening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71175-60AB-4657-A876-A57F1BC1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Repository demo asset shown. Model inference remains simulated in the current frontend.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198C0-1867-4141-A694-69A0E31A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1C46F-985B-4FC3-B7FB-57C8E014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EFF0A-CCC8-41C8-A58E-E0576C37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INDIA HACKATHON 2026  ·  TEAM ALGOX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1996C-F0EF-4CE9-AE02-6A4418B4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5AB2F-A918-4369-8AE1-C6948C93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1247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084634f9c4962"/>
          <a:stretch xmlns:a="http://schemas.openxmlformats.org/drawingml/2006/main"/>
        </p:blipFill>
        <p:spPr>
          <a:xfrm xmlns:a="http://schemas.openxmlformats.org/drawingml/2006/main">
            <a:off x="1981200" y="1381125"/>
            <a:ext cx="4267200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C4213-1622-4E79-9EEE-060FF81E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REPOSITORY DEMO ASSET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F6DB9-902F-466F-AEC1-E6588A96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3676650" cy="46291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057B7-7E16-4005-BADE-53FF00B8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WHAT A JUDGE CAN SEE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4A4F8-3026-467E-980D-07097095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62688-4769-4262-8EC1-1B7334C2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05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7699D-1AF6-44D4-993C-0AC61DF7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Select pathway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0FE0A-B85B-4DF5-9B51-290663DA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Heart, diabetes, retinopathy, skin cancer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66B83-FE59-460F-BC68-59AFD77C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908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43DFD-44BB-452B-86A4-A3714090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D821E-EBBE-4AC4-B2F9-2A0D0A2C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Collect inputs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0F38E-0A76-4DBB-A9A4-D952652E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Validated forms or image upload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3C6F5-CA3E-4423-9414-62D3CE05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1576F-DE34-405B-9BB8-98CD16ED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86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956FB-E510-4BF2-9088-BCD28A9D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909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Review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F4B332-8EA1-437F-A22F-15197477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952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Risk view, probabilities, key signals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D4C0C-9624-4CBE-AD48-BED43214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71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D37B81-A3F7-498A-9C6B-56F1AB67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5E723-F0E1-40E5-865D-A80808A6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Track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6DC7E1-3220-4527-8980-D656B652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Patient sessions and screening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E1C8A-1AE4-4B87-A5C7-7CD7EDAB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863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01A863-05A8-4A52-A5A0-46CECB55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530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C8C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C8C81"/>
                </a:solidFill>
                <a:latin typeface="Aptos"/>
                <a:ea typeface="Aptos"/>
                <a:cs typeface="Aptos"/>
              </a:rPr>
              <a:t>IMPLEMENTED UI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192841-1327-4800-88E7-CD67DDD9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86375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418ACE-5E23-4AA4-A29B-FEDECA33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53050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747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4747"/>
                </a:solidFill>
                <a:latin typeface="Aptos"/>
                <a:ea typeface="Aptos"/>
                <a:cs typeface="Aptos"/>
              </a:rPr>
              <a:t>SIMULATED INFERENCE</a:t>
            </a:r>
          </a:p>
        </p:txBody>
      </p:sp>
    </p:spTree>
    <p:extLst>
      <p:ext uri="{BB962C8B-B14F-4D97-AF65-F5344CB8AC3E}">
        <p14:creationId xmlns:p14="http://schemas.microsoft.com/office/powerpoint/2010/main" val="1906676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FC86F7-1C0C-498B-81E1-48BE5F31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Feasibility, safeguards, and maturity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19167-58B9-4922-8339-1C5878AA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A research prototype with a clear path to integration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E672A-84B9-4F36-94D7-4B6CB351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1BE05-6B89-4880-B42C-EDACC7BD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F7F45-59CD-4D09-B187-8085D316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INDIA HACKATHON 2026  ·  TEAM ALGOX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8FDE2-9B5D-4F92-B431-BBDB23C3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5D376-E8F4-4259-9423-E356DACD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276600" cy="37528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66A6C-02F5-4F64-9B47-887A78CD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276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C8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D09EA-0C61-492C-962A-D26148D5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338E4-4783-4140-AA43-CBFF2F83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C8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50F91-B888-4BB3-A6F4-2D3774D1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764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Next.js clinical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44D5B-01A8-4EA7-B2FB-9FEC1B63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C8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56C62-2289-4A65-8A06-8378DA47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Four screening pathways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253E1-096B-46E6-8653-CB78AE56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C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47DF0-4F93-4245-B951-97F62D8C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Patient and session 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37EDD-D91A-4A22-B6AE-5DCA7F25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C8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995A2-FDBB-498B-979D-C55281A2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Training notebook for quantum-gated ResNet18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159EB-1370-4468-B0E5-7542DD3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428750"/>
            <a:ext cx="3276600" cy="37528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74842-A9ED-455B-9A3A-86054A23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428750"/>
            <a:ext cx="3276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7B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81666-157A-46B4-A3BA-48A7661F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90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Prototype / in progress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79985-202A-4AE4-A0C8-6FCB9A2D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81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7B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41920-7B4E-442D-9BA6-D3735A00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764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Frontend uses deterministic simulated inference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D2566-EC3F-4F83-9C20-43F4FEA5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2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7B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FCAB6-6ADD-4048-B569-55E5FCFE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19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Explainability placeholders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AC75D-ED38-4719-93D9-6BD7315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7B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1FAD3-7BC7-496A-9699-DD5F2A64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623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Synthetic patient and session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E5D42-F767-4A30-98EE-CCD62DC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10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7B0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3F3D8E-3432-4C04-B993-066AD97F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052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7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Quantum branch requires benchmark 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5C3E8-3412-45FA-A1CC-32184FA3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28750"/>
            <a:ext cx="3276600" cy="37528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A512BA-359F-4EC6-8B16-1BB49E09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28750"/>
            <a:ext cx="3276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20FC0B-FE61-47E6-9C2C-8ADAD7C2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Planned next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E3EB8A-1DC7-47E2-8847-E866E532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C108DE-65E8-4643-B095-F9AAD8FF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764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Backend model-serving 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9B1F52-79CC-486F-BBF0-32D008B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2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D45539-63F4-4272-828A-0527B8AB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.pth model integration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51FAC1-7A7A-4C6F-ACE4-160AFB3B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4153D6-B4FA-44F6-ADED-0A9F0A1A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623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Grad-CAM / feature importance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7B585D-47F4-40BC-A490-B298CCDB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0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386BFC-10E9-4E46-8BF7-7433A458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60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Dataset validation and clinical governance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ADF6A2-9440-418C-830D-FE36C90D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0610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BC1D3A-5529-410D-8FE8-A3D655D2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292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 position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622CCF-AC3D-4A9D-8EA9-0575BDAE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292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FFA"/>
                </a:solidFill>
                <a:latin typeface="Aptos"/>
                <a:ea typeface="Aptos"/>
                <a:cs typeface="Aptos"/>
              </a:rPr>
              <a:t>MedQube supports research screening demonstrations. It must not make autonomous diagnoses or replace clinician judgment.</a:t>
            </a:r>
          </a:p>
        </p:txBody>
      </p:sp>
    </p:spTree>
    <p:extLst>
      <p:ext uri="{BB962C8B-B14F-4D97-AF65-F5344CB8AC3E}">
        <p14:creationId xmlns:p14="http://schemas.microsoft.com/office/powerpoint/2010/main" val="1146717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183AA6-1047-4A0A-A309-9E644942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MedQube: ready to demonstrate, ready to validate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3BF53-9C4B-4C82-BD84-D91E6D2F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Team AlgoX · SIH26139 · Health Tech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B0493-C215-48F1-8CD6-C9E37E51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02A4E-21C4-49A1-8D06-547D920A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D528C-B4FE-40F1-A43B-69C6B397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INDIA HACKATHON 2026  ·  TEAM ALGOX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815AE-FE80-42D7-9909-606EC6F7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94CDB-20E5-4603-8EF8-A24C7242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429125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65A7B-5152-4990-B6A6-23196FA4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DFF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DDFF0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72415-9A86-4B6E-B8C1-51D4572B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E37A1-560B-4C6A-8D34-A930C0C9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41035-A713-4464-B972-9124399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621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a disease pathway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55A8B-F181-4A8B-B9FA-C185340C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213C4-7E90-49EE-ABF2-9F13C905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36364-0812-4432-ADDB-FEAD30FC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Enter clinical inputs or upload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9CE00-1BC9-49C1-B42D-4CE44F8C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F6F36-A0F5-48EF-B39D-51935D06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D8FD9-53D2-4D5E-BE93-26A045D9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623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Inspect screening result and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26F16-359E-47EA-8194-296C098B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2AACB-CED2-40CC-9C9E-EE6E09A4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4B3BF0-1D9D-4CA9-865E-C6DB0762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patient session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FFC5F-D594-43E9-8A55-9319EB48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257300"/>
            <a:ext cx="2781300" cy="3924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1EEF6-C8EE-49A4-8985-2C521FD1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81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IMPACT TO 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07AB68-D4D4-4FD4-A857-49531A88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24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A focused research question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127539-0F7C-4F5B-BF0E-1679867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66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Can a compact variational circuit improve feature gating for medical-image screening when compared with a classical baseline?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61A376-D11C-42F0-89F6-F73CB223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481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88716-049B-4643-BCF2-D3C6BA1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C8C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C8C81"/>
                </a:solidFill>
                <a:latin typeface="Aptos"/>
                <a:ea typeface="Aptos"/>
                <a:cs typeface="Aptos"/>
              </a:rPr>
              <a:t>Benchmark first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B434D-BA66-49C4-86D7-1A629B59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14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2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Metrics needed: accuracy, sensitivity, specificity, F1, inference time, and calibration.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6C784-5B61-4755-AD11-19801B7D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57300"/>
            <a:ext cx="3219450" cy="39243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E4021E-AE38-4E79-9B3E-A1A58515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81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PROJECT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024037-2A3F-4536-B853-FFCF7835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GitHub repository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B8C962-7BE7-493A-850A-951322B4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github.com/7pavana/SIH-AlgoX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0F8C67-737C-47F2-ACC8-B63984D2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43225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0F770C-B20C-4463-8E24-87024469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718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46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67083"/>
                </a:solidFill>
                <a:latin typeface="Aptos"/>
                <a:ea typeface="Aptos"/>
                <a:cs typeface="Aptos"/>
              </a:rPr>
              <a:t>DEMO VIDEO</a:t>
            </a:r>
          </a:p>
          <a:p xmlns:a="http://schemas.openxmlformats.org/drawingml/2006/main">
            <a:pPr>
              <a:defRPr sz="1050" b="1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67083"/>
                </a:solidFill>
                <a:latin typeface="Aptos"/>
                <a:ea typeface="Aptos"/>
                <a:cs typeface="Aptos"/>
              </a:rPr>
              <a:t>QR PLACEHOLDER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A97A63-BF11-419E-AC82-16F8512B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005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Add the final video QR here before submission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44AB0A-6F23-44E4-9F75-EDAF02EB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48B479-2540-4E8B-BDDC-D93A192F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Built for transparent hybrid-QML research, not clinical diagnosis.</a:t>
            </a:r>
          </a:p>
        </p:txBody>
      </p:sp>
    </p:spTree>
    <p:extLst>
      <p:ext uri="{BB962C8B-B14F-4D97-AF65-F5344CB8AC3E}">
        <p14:creationId xmlns:p14="http://schemas.microsoft.com/office/powerpoint/2010/main" val="414682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2026-09-27T06:02:36.7780000Z</dcterms:created>
  <dcterms:modified xsi:type="dcterms:W3CDTF">2026-09-27T06:02:36.7780000Z</dcterms:modified>
</coreProperties>
</file>