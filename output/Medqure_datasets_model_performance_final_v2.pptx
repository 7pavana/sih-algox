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27882131a0418f" /><Relationship Type="http://schemas.openxmlformats.org/officeDocument/2006/relationships/extended-properties" Target="/docProps/app.xml" Id="Rd0b4ef5c533e4aba" /><Relationship Type="http://schemas.openxmlformats.org/officeDocument/2006/relationships/officeDocument" Target="/ppt/presentation.xml" Id="R1358a2c0b117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f873fd41a4485f"/>
  </p:sldMasterIdLst>
  <p:notesMasterIdLst>
    <p:notesMasterId xmlns:r="http://schemas.openxmlformats.org/officeDocument/2006/relationships" r:id="R7523f95907ca4dc6"/>
  </p:notesMasterIdLst>
  <p:sldIdLst>
    <p:sldId xmlns:r="http://schemas.openxmlformats.org/officeDocument/2006/relationships" id="256" r:id="Re97d65c5592a4666"/>
    <p:sldId xmlns:r="http://schemas.openxmlformats.org/officeDocument/2006/relationships" id="257" r:id="R91aa6080f74e4a95"/>
    <p:sldId xmlns:r="http://schemas.openxmlformats.org/officeDocument/2006/relationships" id="258" r:id="R977084ee8af74c48"/>
    <p:sldId xmlns:r="http://schemas.openxmlformats.org/officeDocument/2006/relationships" id="259" r:id="Rf5dc67e6a20a402d"/>
    <p:sldId xmlns:r="http://schemas.openxmlformats.org/officeDocument/2006/relationships" id="260" r:id="R2af40e1fb11b4697"/>
    <p:sldId xmlns:r="http://schemas.openxmlformats.org/officeDocument/2006/relationships" id="261" r:id="R395bfe05ae744ac3"/>
    <p:sldId xmlns:r="http://schemas.openxmlformats.org/officeDocument/2006/relationships" id="262" r:id="R8e2aace1420349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c86885c5e04136" /><Relationship Type="http://schemas.openxmlformats.org/officeDocument/2006/relationships/slideMaster" Target="/ppt/slideMasters/slideMaster1.xml" Id="Rb7f873fd41a4485f" /><Relationship Type="http://schemas.openxmlformats.org/officeDocument/2006/relationships/notesMaster" Target="/ppt/notesMasters/notesMaster1.xml" Id="R7523f95907ca4dc6" /><Relationship Type="http://schemas.openxmlformats.org/officeDocument/2006/relationships/presProps" Target="/ppt/presProps.xml" Id="Rc9d42e0ec8fa448c" /><Relationship Type="http://schemas.openxmlformats.org/officeDocument/2006/relationships/viewProps" Target="/ppt/viewProps.xml" Id="R99f3cea6c74c4af5" /><Relationship Type="http://schemas.openxmlformats.org/officeDocument/2006/relationships/tableStyles" Target="/ppt/tableStyles.xml" Id="R249ddb6a4730403e" /><Relationship Type="http://schemas.openxmlformats.org/officeDocument/2006/relationships/slide" Target="/ppt/slides/slide1.xml" Id="Re97d65c5592a4666" /><Relationship Type="http://schemas.openxmlformats.org/officeDocument/2006/relationships/slide" Target="/ppt/slides/slide2.xml" Id="R91aa6080f74e4a95" /><Relationship Type="http://schemas.openxmlformats.org/officeDocument/2006/relationships/slide" Target="/ppt/slides/slide3.xml" Id="R977084ee8af74c48" /><Relationship Type="http://schemas.openxmlformats.org/officeDocument/2006/relationships/slide" Target="/ppt/slides/slide4.xml" Id="Rf5dc67e6a20a402d" /><Relationship Type="http://schemas.openxmlformats.org/officeDocument/2006/relationships/slide" Target="/ppt/slides/slide5.xml" Id="R2af40e1fb11b4697" /><Relationship Type="http://schemas.openxmlformats.org/officeDocument/2006/relationships/slide" Target="/ppt/slides/slide6.xml" Id="R395bfe05ae744ac3" /><Relationship Type="http://schemas.openxmlformats.org/officeDocument/2006/relationships/slide" Target="/ppt/slides/slide7.xml" Id="R8e2aace1420349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31cd56b3b46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32ad6de6e048f9" /><Relationship Type="http://schemas.openxmlformats.org/officeDocument/2006/relationships/notesMaster" Target="/ppt/notesMasters/notesMaster1.xml" Id="R2628f3ccf5bf42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ac527d5df849b0" /><Relationship Type="http://schemas.openxmlformats.org/officeDocument/2006/relationships/notesMaster" Target="/ppt/notesMasters/notesMaster1.xml" Id="Re70d5266a2d5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7f7761097b4b1c" /><Relationship Type="http://schemas.openxmlformats.org/officeDocument/2006/relationships/notesMaster" Target="/ppt/notesMasters/notesMaster1.xml" Id="Rb753b66bdd414d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4e229c9b114b05" /><Relationship Type="http://schemas.openxmlformats.org/officeDocument/2006/relationships/notesMaster" Target="/ppt/notesMasters/notesMaster1.xml" Id="Rfeeec733b6964e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fb77dfcc14b7a" /><Relationship Type="http://schemas.openxmlformats.org/officeDocument/2006/relationships/notesMaster" Target="/ppt/notesMasters/notesMaster1.xml" Id="R0849c1f166234b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9b553558a34017" /><Relationship Type="http://schemas.openxmlformats.org/officeDocument/2006/relationships/notesMaster" Target="/ppt/notesMasters/notesMaster1.xml" Id="R266d1f83e4884a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4733415d04780" /><Relationship Type="http://schemas.openxmlformats.org/officeDocument/2006/relationships/notesMaster" Target="/ppt/notesMasters/notesMaster1.xml" Id="R4938fb87220b41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Performance values transcribed exactly from Final - Sheet1.pdf.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Dataset source links: Skin Cancer https://www.kaggle.com/datasets/farjanakabirsamanta/skin-cancer-dataset | Diabetic Retinopathy https://www.kaggle.com/datasets/sovitrath/diabetic-retinopathy-224x224-gaussian-filtered/data | Diabetes Health Indicators https://www.kaggle.com/datasets/alexteboul/diabetes-health-indicators-dataset | Cardiovascular Disease https://www.kaggle.com/datasets/sulianova/cardiovascular-disease-dataset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36fd2f39645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397b3753640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eb8e58bf94e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7fadcbdd94e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8d85f66a040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ca0237f5040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651281bca449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51582c4fc4c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a601d8af8439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1f0b963e24f5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29ba7e86f4c7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DB1AB0-B07C-4A9A-BE5D-5978B06A7B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1FB4D1C-5C18-4C7D-826F-71614BD23D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FC876F-DE87-4EC0-A780-5889A636CA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0568A5-7D9C-4A29-A35B-A9E2EC315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6EF31F-D88C-47EF-AEB3-682A7B2C75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E7649-9858-4448-9F6C-E40837778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8B4C1A-0705-4A9A-9869-9CB1D08D2F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FAF90F-7AA0-420B-B1BF-AFD255326C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DDF870-E355-4A5D-BC7C-0697175818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F74C95-9D90-4CCB-B109-6CA7B00786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B8BE22-7BA6-4559-BE8E-E312127D1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D04DB8-8A61-41DE-886C-E22DFFCEFD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ACFF27-BF87-415E-9A8B-849FEBB645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01C078-D897-41D6-A34E-335EBD53B3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BC578F-8ACD-4C94-BC9C-8B90EBF23A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A0C650-2D76-4709-9D93-0558B69E9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F9D1BD-3086-43A7-8EA3-E8D46D2500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C034976-806B-4259-B7AE-DDCE1E9406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111E8C-FD83-46C6-BD11-8472E26834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70B3A6-5F14-47A0-B455-99781F8DB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67231-4FE7-42C3-8310-69C2AD823B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35F316-C675-4E0E-8C85-628FB4974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E74D81-6B02-467B-85C9-CFED302FD6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5345C0-D5D9-4A53-A404-EE53144CBB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79B78DA-1C50-46E2-84CE-72BB2FF9D2C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6E85BB-B1BA-4A49-8305-36EA7D4BF94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2B8BFF-DBAB-45F3-A064-5C68642ED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9/5/2026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07AE87-5B5E-4A51-8745-0C5CF08777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FA76FB-6725-4DA1-95BC-B47AF994EA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AE776B-7463-4D6C-864E-F17DA08E3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28DC69-422D-4E2D-946A-A81AB615A0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9/5/2026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5CF28D-B4E4-4412-839F-770E0498BA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05CD65-D4BA-4527-B8B5-5DFF0BE0AB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7F0A9F-9FA4-4115-89B3-5348C61EAA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9/5/2026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DFE0C1-B587-4AFF-BF71-B00B5EAE38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3950EC-F91D-48C5-8F1A-6B16FD86A2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B4AEA9-9EBE-4F64-ABBD-BF301C215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AC95608-61D8-45FB-B1F0-FDDCA709BA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F90187E-1D95-454D-9ABA-0A0121BAB5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DF5E22-0087-40B4-89B2-3A18DC855F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8ACF68-666A-4FFF-8619-71CDBA6B13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1272D4-DF2D-413E-927A-27F8909BB8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E846B2-7075-4319-ACAC-94E1760D0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6B57DFD-A9DA-432B-B339-7CFBC0D1578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D983BBF-E975-402F-BCB8-77F33D5461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69A9252-080F-435C-BD18-0C5C5975AA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8CF58F-0A05-428C-9A22-54A06F238A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114BB7-3A67-4DB7-824D-7D678FD3B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EF580F-EEAD-4D8B-9B3F-77B30AE9E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E5CC85-82F1-4DE0-9048-3ED5BC320D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390328-DE0C-4518-82EB-BCD43BE74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E9332E-4DF6-4918-B5D6-92D5046287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8A8AFC-5F0B-41F1-8A55-317915A2B7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2C51DBC-6798-44AE-9654-51DCF657F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082BF7-BA02-48D9-952B-B628D9D7F2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AF957B-CF8C-4F60-A3C2-7868EF2781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A11CD5-B67B-4609-A00E-BB6CFAA367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B6BA20-0DDE-4801-A3C4-02E9C9F4D0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35279475a4d43" /><Relationship Type="http://schemas.openxmlformats.org/officeDocument/2006/relationships/slideLayout" Target="/ppt/slideLayouts/slideLayout1.xml" Id="R5bb662e3cde7438d" /><Relationship Type="http://schemas.openxmlformats.org/officeDocument/2006/relationships/slideLayout" Target="/ppt/slideLayouts/slideLayout2.xml" Id="R28a52873fb18414d" /><Relationship Type="http://schemas.openxmlformats.org/officeDocument/2006/relationships/slideLayout" Target="/ppt/slideLayouts/slideLayout3.xml" Id="Rffcf5512c0aa4fbc" /><Relationship Type="http://schemas.openxmlformats.org/officeDocument/2006/relationships/slideLayout" Target="/ppt/slideLayouts/slideLayout4.xml" Id="R9255b064e48a4ef2" /><Relationship Type="http://schemas.openxmlformats.org/officeDocument/2006/relationships/slideLayout" Target="/ppt/slideLayouts/slideLayout5.xml" Id="R0dfaf44a17954a6e" /><Relationship Type="http://schemas.openxmlformats.org/officeDocument/2006/relationships/slideLayout" Target="/ppt/slideLayouts/slideLayout6.xml" Id="R94c42e75e98249e2" /><Relationship Type="http://schemas.openxmlformats.org/officeDocument/2006/relationships/slideLayout" Target="/ppt/slideLayouts/slideLayout7.xml" Id="R924aae1e69fd483f" /><Relationship Type="http://schemas.openxmlformats.org/officeDocument/2006/relationships/slideLayout" Target="/ppt/slideLayouts/slideLayout8.xml" Id="R24d1fa64d45d4f98" /><Relationship Type="http://schemas.openxmlformats.org/officeDocument/2006/relationships/slideLayout" Target="/ppt/slideLayouts/slideLayout9.xml" Id="R223882c772194aba" /><Relationship Type="http://schemas.openxmlformats.org/officeDocument/2006/relationships/slideLayout" Target="/ppt/slideLayouts/slideLayout10.xml" Id="Rbc9849d60e0b44ee" /><Relationship Type="http://schemas.openxmlformats.org/officeDocument/2006/relationships/slideLayout" Target="/ppt/slideLayouts/slideLayout11.xml" Id="Rceb350ba0b624c2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7DD1C81-0CB7-4AF4-8DBC-E287CE541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14C9C8B-1CBC-4E89-B9C3-3381C97633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6E9F90-6F41-4962-A625-DBFE65A217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5FDBEB-A12D-4C68-8576-5576344293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BFF09C-D251-4370-9AE8-4D97E0701E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b662e3cde7438d"/>
    <p:sldLayoutId xmlns:r="http://schemas.openxmlformats.org/officeDocument/2006/relationships" id="2147483650" r:id="R28a52873fb18414d"/>
    <p:sldLayoutId xmlns:r="http://schemas.openxmlformats.org/officeDocument/2006/relationships" id="2147483651" r:id="Rffcf5512c0aa4fbc"/>
    <p:sldLayoutId xmlns:r="http://schemas.openxmlformats.org/officeDocument/2006/relationships" id="2147483652" r:id="R9255b064e48a4ef2"/>
    <p:sldLayoutId xmlns:r="http://schemas.openxmlformats.org/officeDocument/2006/relationships" id="2147483653" r:id="R0dfaf44a17954a6e"/>
    <p:sldLayoutId xmlns:r="http://schemas.openxmlformats.org/officeDocument/2006/relationships" id="2147483654" r:id="R94c42e75e98249e2"/>
    <p:sldLayoutId xmlns:r="http://schemas.openxmlformats.org/officeDocument/2006/relationships" id="2147483655" r:id="R924aae1e69fd483f"/>
    <p:sldLayoutId xmlns:r="http://schemas.openxmlformats.org/officeDocument/2006/relationships" id="2147483656" r:id="R24d1fa64d45d4f98"/>
    <p:sldLayoutId xmlns:r="http://schemas.openxmlformats.org/officeDocument/2006/relationships" id="2147483657" r:id="R223882c772194aba"/>
    <p:sldLayoutId xmlns:r="http://schemas.openxmlformats.org/officeDocument/2006/relationships" id="2147483658" r:id="Rbc9849d60e0b44ee"/>
    <p:sldLayoutId xmlns:r="http://schemas.openxmlformats.org/officeDocument/2006/relationships" id="2147483659" r:id="Rceb350ba0b624c2a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8b48081cb4e36" /><Relationship Type="http://schemas.openxmlformats.org/officeDocument/2006/relationships/image" Target="/ppt/media/image.png" Id="Ra9e24fbff0a84a20" /><Relationship Type="http://schemas.openxmlformats.org/officeDocument/2006/relationships/image" Target="/ppt/media/image2.png" Id="R480b27ecc81c4c0a" /><Relationship Type="http://schemas.openxmlformats.org/officeDocument/2006/relationships/notesSlide" Target="/ppt/notesSlides/notesSlide1.xml" Id="R17cbc529113f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51b05716ec4729" /><Relationship Type="http://schemas.openxmlformats.org/officeDocument/2006/relationships/image" Target="/ppt/media/image2.png" Id="Rae41baa4d3194502" /><Relationship Type="http://schemas.openxmlformats.org/officeDocument/2006/relationships/image" Target="/ppt/media/image3.png" Id="Rcb54b1cb48614204" /><Relationship Type="http://schemas.openxmlformats.org/officeDocument/2006/relationships/image" Target="/ppt/media/image4.png" Id="Rb14ab03edc394822" /><Relationship Type="http://schemas.openxmlformats.org/officeDocument/2006/relationships/notesSlide" Target="/ppt/notesSlides/notesSlide2.xml" Id="Reb25e04b00bf47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b288d91883451f" /><Relationship Type="http://schemas.openxmlformats.org/officeDocument/2006/relationships/image" Target="/ppt/media/image2.png" Id="Re9d17b4f8ca84566" /><Relationship Type="http://schemas.openxmlformats.org/officeDocument/2006/relationships/image" Target="/ppt/media/image3.png" Id="R698cb46fe5784d6b" /><Relationship Type="http://schemas.openxmlformats.org/officeDocument/2006/relationships/image" Target="/ppt/media/image5.png" Id="R936f141ece1641bc" /><Relationship Type="http://schemas.openxmlformats.org/officeDocument/2006/relationships/notesSlide" Target="/ppt/notesSlides/notesSlide3.xml" Id="R72b43500dab44f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20ef8ad864b3b" /><Relationship Type="http://schemas.openxmlformats.org/officeDocument/2006/relationships/image" Target="/ppt/media/image2.png" Id="Ra9eee9158f154bf3" /><Relationship Type="http://schemas.openxmlformats.org/officeDocument/2006/relationships/image" Target="/ppt/media/image3.png" Id="Rc9a214b94771409d" /><Relationship Type="http://schemas.openxmlformats.org/officeDocument/2006/relationships/image" Target="/ppt/media/image6.png" Id="R1f1515b21cb34e80" /><Relationship Type="http://schemas.openxmlformats.org/officeDocument/2006/relationships/notesSlide" Target="/ppt/notesSlides/notesSlide4.xml" Id="R4652fc9f8b7543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902534e67e48e9" /><Relationship Type="http://schemas.openxmlformats.org/officeDocument/2006/relationships/image" Target="/ppt/media/image2.png" Id="R541f07ec610a4b57" /><Relationship Type="http://schemas.openxmlformats.org/officeDocument/2006/relationships/image" Target="/ppt/media/image3.png" Id="R3a42147169ab4d29" /><Relationship Type="http://schemas.openxmlformats.org/officeDocument/2006/relationships/notesSlide" Target="/ppt/notesSlides/notesSlide5.xml" Id="R41c85de56fb24e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fa7cd4cc74a47" /><Relationship Type="http://schemas.openxmlformats.org/officeDocument/2006/relationships/image" Target="/ppt/media/image2.png" Id="Rd27f6ea06bf642a9" /><Relationship Type="http://schemas.openxmlformats.org/officeDocument/2006/relationships/image" Target="/ppt/media/image3.png" Id="Rb751631da2f64cd3" /><Relationship Type="http://schemas.openxmlformats.org/officeDocument/2006/relationships/hyperlink" Target="https://ieeexplore.ieee.org/stamp/stamp.jsp?arnumber=11039626" TargetMode="External" Id="Rc67f668812914c88" /><Relationship Type="http://schemas.openxmlformats.org/officeDocument/2006/relationships/hyperlink" Target="https://ieeexplore.ieee.org/stamp/stamp.jsp?arnumber=10613907" TargetMode="External" Id="R215d03b8b8664d22" /><Relationship Type="http://schemas.openxmlformats.org/officeDocument/2006/relationships/hyperlink" Target="https://ieeexplore.ieee.org/stamp/stamp.jsp?arnumber=11155089" TargetMode="External" Id="R9cfac628bbb8430d" /><Relationship Type="http://schemas.openxmlformats.org/officeDocument/2006/relationships/hyperlink" Target="https://arxiv.org/pdf/2302.04633" TargetMode="External" Id="R18bf1f96ddc24385" /><Relationship Type="http://schemas.openxmlformats.org/officeDocument/2006/relationships/hyperlink" Target="https://doi.org/10.56979/701/2024" TargetMode="External" Id="R5c6d05dc3d3b42f5" /><Relationship Type="http://schemas.openxmlformats.org/officeDocument/2006/relationships/notesSlide" Target="/ppt/notesSlides/notesSlide6.xml" Id="R68ce66e8da394b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8281734e5d4be0" /><Relationship Type="http://schemas.openxmlformats.org/officeDocument/2006/relationships/image" Target="/ppt/media/image2.png" Id="R95b32bc4367745d7" /><Relationship Type="http://schemas.openxmlformats.org/officeDocument/2006/relationships/image" Target="/ppt/media/image3.png" Id="R8fc8a7f93e454041" /><Relationship Type="http://schemas.openxmlformats.org/officeDocument/2006/relationships/hyperlink" Target="https://ieeexplore.ieee.org/stamp/stamp.jsp?arnumber=11039626" TargetMode="External" Id="R1240e6b0acdd442a" /><Relationship Type="http://schemas.openxmlformats.org/officeDocument/2006/relationships/hyperlink" Target="https://ieeexplore.ieee.org/stamp/stamp.jsp?arnumber=10613907" TargetMode="External" Id="Rc5b614d2486e474a" /><Relationship Type="http://schemas.openxmlformats.org/officeDocument/2006/relationships/hyperlink" Target="https://ieeexplore.ieee.org/stamp/stamp.jsp?arnumber=11155089" TargetMode="External" Id="R2162f7ff98ce449f" /><Relationship Type="http://schemas.openxmlformats.org/officeDocument/2006/relationships/hyperlink" Target="https://arxiv.org/pdf/2302.04633" TargetMode="External" Id="Rca9dc3df9fe14133" /><Relationship Type="http://schemas.openxmlformats.org/officeDocument/2006/relationships/hyperlink" Target="https://doi.org/10.56979/701/2024" TargetMode="External" Id="Rdcb41a44e86e43bb" /><Relationship Type="http://schemas.openxmlformats.org/officeDocument/2006/relationships/notesSlide" Target="/ppt/notesSlides/notesSlide7.xml" Id="R6cfc366e7d4e4b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e24fbff0a84a20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4331CCA4-3C19-463D-BA59-31124B1BD0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9964099" cy="1546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B530D8F-2F85-426F-B0E2-2042F3B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500"/>
            <a:ext cx="6410391" cy="67179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</a:t>
            </a:r>
            <a:r>
              <a:rPr sz="24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–  </a:t>
            </a:r>
            <a:r>
              <a:rPr sz="2400">
                <a:solidFill>
                  <a:schemeClr val="tx2"/>
                </a:solidFill>
              </a:rPr>
              <a:t>SIH26139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 </a:t>
            </a:r>
            <a:r>
              <a:rPr sz="2400">
                <a:solidFill>
                  <a:schemeClr val="tx2"/>
                </a:solidFill>
              </a:rPr>
              <a:t>Hybrid Quantum Machine Learning Platform for Early Disease Detection .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 </a:t>
            </a:r>
            <a:r>
              <a:rPr sz="2400">
                <a:solidFill>
                  <a:schemeClr val="tx2"/>
                </a:solidFill>
              </a:rPr>
              <a:t>HealthTech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AlgoX</a:t>
            </a:r>
            <a:endParaRPr sz="2400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b27ecc81c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777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52B37D-5319-477B-92D9-1A8FE64B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63432C0C-8391-4C5D-B28C-10CBBE4AA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89281"/>
            <a:ext cx="10317598" cy="457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000" b="1">
                <a:latin typeface="Times New Roman"/>
                <a:ea typeface="Times New Roman"/>
                <a:cs typeface="Times New Roman"/>
              </a:rPr>
              <a:t>MedQure</a:t>
            </a:r>
            <a:r>
              <a:rPr sz="4000" b="1">
                <a:latin typeface="Times New Roman"/>
                <a:ea typeface="Times New Roman"/>
                <a:cs typeface="Times New Roman"/>
              </a:rPr>
              <a:t> Proposed Solution</a:t>
            </a:r>
            <a:br/>
            <a:endParaRPr sz="4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B6A66A-44C9-4B9A-99D4-02ECD0933D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7427E7C-A1D3-4BD6-9592-385322F34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36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1baa4d319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CF2C18E8-B4A4-9CB5-84A0-D6D4F4F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98" y="771522"/>
            <a:ext cx="5341502" cy="5583239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Innovation and Uniqueness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</a:t>
            </a:r>
            <a:r>
              <a:rPr b="1">
                <a:solidFill>
                  <a:schemeClr val="tx1"/>
                </a:solidFill>
              </a:rPr>
              <a:t> Hybrid Quantum-Classical AI</a:t>
            </a:r>
            <a:r>
              <a:rPr>
                <a:solidFill>
                  <a:schemeClr val="tx1"/>
                </a:solidFill>
              </a:rPr>
              <a:t>: Combines classical preprocessing with Quantum Machine Learning for practical early disease detection.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</a:rPr>
              <a:t>• Adaptive Feature Reduction</a:t>
            </a:r>
            <a:r>
              <a:rPr>
                <a:solidFill>
                  <a:schemeClr val="tx1"/>
                </a:solidFill>
              </a:rPr>
              <a:t>: Reduces high-dimensional biomedical data before quantum encoding to work within limited qubit availability.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Quantum-Classical Benchmarking: </a:t>
            </a:r>
            <a:r>
              <a:rPr>
                <a:solidFill>
                  <a:schemeClr val="tx1"/>
                </a:solidFill>
              </a:rPr>
              <a:t>Compares quantum and classical models using the same processed dataset and evaluation metrics.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Explainable Prediction: </a:t>
            </a:r>
            <a:r>
              <a:rPr>
                <a:solidFill>
                  <a:schemeClr val="tx1"/>
                </a:solidFill>
              </a:rPr>
              <a:t>Provides prediction confidence and feature-level insights to make model outputs easier to understand.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Hardware-Ready Architecture: </a:t>
            </a:r>
            <a:r>
              <a:rPr>
                <a:solidFill>
                  <a:schemeClr val="tx1"/>
                </a:solidFill>
              </a:rPr>
              <a:t>Supports quantum simulators during development and can be extended to near-term quantum hardware.</a:t>
            </a:r>
          </a:p>
        </p:txBody>
      </p:sp>
      <p:pic>
        <p:nvPicPr>
          <p:cNvPr id="1537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4b1cb4861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537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ab03edc39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7498" y="1063837"/>
            <a:ext cx="6178339" cy="52351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72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9C5B3B5-609F-453A-89D8-5E0643901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FFA44D-6AB8-44F8-AEB8-04867DDBF1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123BDF5-F614-43B5-AEAA-EC4AAF63CF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741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17b4f8ca84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946313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cb46fe5784d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f141ece1641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064" y="996938"/>
            <a:ext cx="11867872" cy="5357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735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5C12CA2-C14F-493B-A514-AD37730CA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D3626B-41DC-4FC8-AF70-E04012330E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FC51695-220A-4494-82DA-998C33301E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</a:t>
            </a:r>
            <a:r>
              <a:rPr>
                <a:solidFill>
                  <a:prstClr val="white"/>
                </a:solidFill>
              </a:rPr>
              <a:t>eam</a:t>
            </a:r>
            <a:r>
              <a:rPr>
                <a:solidFill>
                  <a:prstClr val="white"/>
                </a:solidFill>
              </a:rPr>
              <a:t>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ee9158f154b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214b9477140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515b21cb34e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95375"/>
            <a:ext cx="12192000" cy="5227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17A9597-693E-4D93-B7AD-1E014FF7D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2ED4E8-BFE0-4FB8-A9BC-581591A1FA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E951485-47DE-4B2D-B265-AD48DD735F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Team </a:t>
            </a: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f07ec610a4b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2147169ab4d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7F21D715-CE6C-B2A2-68B3-C2ECA7C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3837"/>
            <a:ext cx="5394464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Early Disease Detection </a:t>
            </a:r>
            <a:r>
              <a:rPr sz="1600">
                <a:solidFill>
                  <a:schemeClr val="tx1"/>
                </a:solidFill>
              </a:rPr>
              <a:t>– Supports identification of potential disease risks at an earlier stage, enabling timely clinical attention and follow-up.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Improved Diagnostic Support </a:t>
            </a:r>
            <a:r>
              <a:rPr sz="1600">
                <a:solidFill>
                  <a:schemeClr val="tx1"/>
                </a:solidFill>
              </a:rPr>
              <a:t>– Provides AI-assisted predictions that can help healthcare professionals analyze complex biomedical data more efficiently.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Explainable Predictions </a:t>
            </a:r>
            <a:r>
              <a:rPr sz="1600">
                <a:solidFill>
                  <a:schemeClr val="tx1"/>
                </a:solidFill>
              </a:rPr>
              <a:t>– Shows confidence scores and important features behind predictions, improving transparency and user trust.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Research Advancement </a:t>
            </a:r>
            <a:r>
              <a:rPr sz="1600">
                <a:solidFill>
                  <a:schemeClr val="tx1"/>
                </a:solidFill>
              </a:rPr>
              <a:t>– Provides researchers with a platform to experiment with and benchmark Quantum Machine Learning on biomedical datasets.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Data-Driven Healthcare </a:t>
            </a:r>
            <a:r>
              <a:rPr sz="1600">
                <a:solidFill>
                  <a:schemeClr val="tx1"/>
                </a:solidFill>
              </a:rPr>
              <a:t>– Enables visualization of prediction results, model performance and comparative insights through an interactive dashboard.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8B9A7DD4-CB06-92D2-BC54-3B09C71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464" y="1063837"/>
            <a:ext cx="5415400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Hybrid &amp; Practical </a:t>
            </a:r>
            <a:r>
              <a:rPr sz="1600">
                <a:solidFill>
                  <a:srgbClr val="010000"/>
                </a:solidFill>
              </a:rPr>
              <a:t>– Combines classical ML with Quantum ML, making the solution usable with current quantum simulators and adaptable to near-term quantum hardware.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Handles Complex Data </a:t>
            </a:r>
            <a:r>
              <a:rPr sz="1600">
                <a:solidFill>
                  <a:srgbClr val="010000"/>
                </a:solidFill>
              </a:rPr>
              <a:t>– Uses preprocessing, feature selection and dimensionality reduction to manage high-dimensional biomedical datasets efficiently.</a:t>
            </a:r>
          </a:p>
          <a:p xmlns:a="http://schemas.openxmlformats.org/drawingml/2006/main">
            <a:endParaRPr sz="1600" b="1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Quantum-Classical Comparison </a:t>
            </a:r>
            <a:r>
              <a:rPr sz="1600">
                <a:solidFill>
                  <a:srgbClr val="010000"/>
                </a:solidFill>
              </a:rPr>
              <a:t>– Provides direct benchmarking of classical and quantum models using common evaluation metrics.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Transparent &amp; Trustworthy </a:t>
            </a:r>
            <a:r>
              <a:rPr sz="1600">
                <a:solidFill>
                  <a:srgbClr val="010000"/>
                </a:solidFill>
              </a:rPr>
              <a:t>– Provides explainability, confidence scores and feature-level insights instead of only presenting a final prediction.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Scalable Research Platform </a:t>
            </a:r>
            <a:r>
              <a:rPr sz="1600">
                <a:solidFill>
                  <a:srgbClr val="010000"/>
                </a:solidFill>
              </a:rPr>
              <a:t>– Supports multiple biomedical datasets, ML/QML algorithms and future integration.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22C9468-5C53-4845-AAB4-12BCEF7E6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EE458B-9F06-48A3-9F5D-EDA2BEDC2F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3AC0C76-B8A4-44BF-A71E-CC97D950F1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f6ea06bf642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1631da2f64c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2D7630-CA94-28AD-69E7-4959CE3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" y="949537"/>
            <a:ext cx="11846936" cy="5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Field &amp; Applied Research</a:t>
            </a:r>
          </a:p>
          <a:p xmlns:a="http://schemas.openxmlformats.org/drawingml/2006/main">
            <a:pPr>
              <a:buNone/>
            </a:pPr>
            <a:r>
              <a:rPr sz="1600"/>
              <a:t>• Studied </a:t>
            </a:r>
            <a:r>
              <a:rPr sz="1600" b="1"/>
              <a:t>Quantum Machine Learning (QML)</a:t>
            </a:r>
            <a:r>
              <a:rPr sz="1600"/>
              <a:t> approaches for healthcare and disease detection using medical and biomedical datasets.</a:t>
            </a:r>
          </a:p>
          <a:p xmlns:a="http://schemas.openxmlformats.org/drawingml/2006/main">
            <a:pPr>
              <a:buNone/>
            </a:pPr>
            <a:r>
              <a:rPr sz="1600"/>
              <a:t>• Reviewed </a:t>
            </a:r>
            <a:r>
              <a:rPr sz="1600" b="1"/>
              <a:t>hybrid quantum-classical models, quantum transfer learning, CNN-based diagnosis, feature extraction and classification techniques</a:t>
            </a:r>
            <a:r>
              <a:rPr sz="1600"/>
              <a:t> relevant to early disease detection.</a:t>
            </a:r>
          </a:p>
          <a:p xmlns:a="http://schemas.openxmlformats.org/drawingml/2006/main">
            <a:pPr>
              <a:buNone/>
            </a:pPr>
            <a:endParaRPr sz="1600"/>
          </a:p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Academic &amp; Research Sources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1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A Hybrid Quantum-Classical Approach for Multi-Class Skin Disease Classification Using a 4-Qubit Model</a:t>
            </a:r>
            <a:r>
              <a:rPr sz="1600"/>
              <a:t> – Proposes a hybrid quantum-classical framework using a 4-qubit quantum system to classify multiple skin diseases.</a:t>
            </a:r>
            <a:br/>
            <a:r>
              <a:rPr sz="1600">
                <a:hlinkClick xmlns:r="http://schemas.openxmlformats.org/officeDocument/2006/relationships" r:id="Rc67f668812914c88"/>
              </a:rPr>
              <a:t>https://ieeexplore.ieee.org/stamp/stamp.jsp?arnumber=11039626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2: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 i="1"/>
              <a:t>Exploring Quantum Machine Learning for Enhanced Skin Lesion Classification: A Comparative Study of Implementation Methods</a:t>
            </a:r>
            <a:r>
              <a:rPr sz="1600"/>
              <a:t> – Compares different QML implementation approaches for skin-lesion classification.</a:t>
            </a:r>
            <a:br/>
            <a:r>
              <a:rPr sz="1600">
                <a:hlinkClick xmlns:r="http://schemas.openxmlformats.org/officeDocument/2006/relationships" r:id="R215d03b8b8664d22"/>
              </a:rPr>
              <a:t>https://ieeexplore.ieee.org/stamp/stamp.jsp?arnumber=10613907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3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Optimized DenseNet121 and Quantum PennyLane Fusion for Explainable Skin Disease Recognition and Classification</a:t>
            </a:r>
            <a:r>
              <a:rPr sz="1600"/>
              <a:t> – Integrates DenseNet121 with quantum PennyLane for explainable skin disease recognition and classification.</a:t>
            </a:r>
            <a:br/>
            <a:r>
              <a:rPr sz="1600">
                <a:hlinkClick xmlns:r="http://schemas.openxmlformats.org/officeDocument/2006/relationships" r:id="R9cfac628bbb8430d"/>
              </a:rPr>
              <a:t>https://ieeexplore.ieee.org/stamp/stamp.jsp?arnumber=11155089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Histopathological Cancer Detection Using Hybrid Quantum Computing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Reek Majumdar, </a:t>
            </a:r>
            <a:r>
              <a:rPr sz="1600"/>
              <a:t>Biswaraj</a:t>
            </a:r>
            <a:r>
              <a:rPr sz="1600"/>
              <a:t> Baral, Bhavika </a:t>
            </a:r>
            <a:r>
              <a:rPr sz="1600"/>
              <a:t>Bhalgamiya</a:t>
            </a:r>
            <a:r>
              <a:rPr sz="1600"/>
              <a:t> and Taposh Dutta Roy; studies hybrid quantum-classical learning and quantum transfer learning for cancer detection.</a:t>
            </a:r>
            <a:br/>
            <a:r>
              <a:rPr sz="1600">
                <a:hlinkClick xmlns:r="http://schemas.openxmlformats.org/officeDocument/2006/relationships" r:id="R18bf1f96ddc24385"/>
              </a:rPr>
              <a:t>https://arxiv.org/pdf/2302.04633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Enhanced Skin Disease Diagnosis through Convolutional Neural Networks and Data Augmentation Techniques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</a:t>
            </a:r>
            <a:r>
              <a:rPr sz="1600"/>
              <a:t>Muddasar</a:t>
            </a:r>
            <a:r>
              <a:rPr sz="1600"/>
              <a:t> Abbas et al.; evaluates CNN, DenseNet-121 and ResNet-50 models using the HAM10000 dataset for skin disease classification.</a:t>
            </a:r>
            <a:br/>
            <a:r>
              <a:rPr sz="1600">
                <a:hlinkClick xmlns:r="http://schemas.openxmlformats.org/officeDocument/2006/relationships" r:id="R5c6d05dc3d3b42f5"/>
              </a:rPr>
              <a:t>https://doi.org/10.56979/701/2024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22C9468-5C53-4845-AAB4-12BCEF7E6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DATASETS &amp; MODEL PERFORMANCE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EE458B-9F06-48A3-9F5D-EDA2BEDC2F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3AC0C76-B8A4-44BF-A71E-CC97D950F1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2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32bc4367745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8a7f93e454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2D7630-CA94-28AD-69E7-4959CE3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" y="949537"/>
            <a:ext cx="11846936" cy="5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Field &amp; Applied Research</a:t>
            </a:r>
          </a:p>
          <a:p xmlns:a="http://schemas.openxmlformats.org/drawingml/2006/main">
            <a:pPr>
              <a:buNone/>
            </a:pPr>
            <a:r>
              <a:rPr sz="1600"/>
              <a:t>• Studied </a:t>
            </a:r>
            <a:r>
              <a:rPr sz="1600" b="1"/>
              <a:t>Quantum Machine Learning (QML)</a:t>
            </a:r>
            <a:r>
              <a:rPr sz="1600"/>
              <a:t> approaches for healthcare and disease detection using medical and biomedical datasets.</a:t>
            </a:r>
          </a:p>
          <a:p xmlns:a="http://schemas.openxmlformats.org/drawingml/2006/main">
            <a:pPr>
              <a:buNone/>
            </a:pPr>
            <a:r>
              <a:rPr sz="1600"/>
              <a:t>• Reviewed </a:t>
            </a:r>
            <a:r>
              <a:rPr sz="1600" b="1"/>
              <a:t>hybrid quantum-classical models, quantum transfer learning, CNN-based diagnosis, feature extraction and classification techniques</a:t>
            </a:r>
            <a:r>
              <a:rPr sz="1600"/>
              <a:t> relevant to early disease detection.</a:t>
            </a:r>
          </a:p>
          <a:p xmlns:a="http://schemas.openxmlformats.org/drawingml/2006/main">
            <a:pPr>
              <a:buNone/>
            </a:pPr>
            <a:endParaRPr sz="1600"/>
          </a:p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Academic &amp; Research Sources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1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A Hybrid Quantum-Classical Approach for Multi-Class Skin Disease Classification Using a 4-Qubit Model</a:t>
            </a:r>
            <a:r>
              <a:rPr sz="1600"/>
              <a:t> – Proposes a hybrid quantum-classical framework using a 4-qubit quantum system to classify multiple skin diseases.</a:t>
            </a:r>
            <a:br/>
            <a:r>
              <a:rPr sz="1600">
                <a:hlinkClick xmlns:r="http://schemas.openxmlformats.org/officeDocument/2006/relationships" r:id="R1240e6b0acdd442a"/>
              </a:rPr>
              <a:t>https://ieeexplore.ieee.org/stamp/stamp.jsp?arnumber=11039626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2: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 i="1"/>
              <a:t>Exploring Quantum Machine Learning for Enhanced Skin Lesion Classification: A Comparative Study of Implementation Methods</a:t>
            </a:r>
            <a:r>
              <a:rPr sz="1600"/>
              <a:t> – Compares different QML implementation approaches for skin-lesion classification.</a:t>
            </a:r>
            <a:br/>
            <a:r>
              <a:rPr sz="1600">
                <a:hlinkClick xmlns:r="http://schemas.openxmlformats.org/officeDocument/2006/relationships" r:id="Rc5b614d2486e474a"/>
              </a:rPr>
              <a:t>https://ieeexplore.ieee.org/stamp/stamp.jsp?arnumber=10613907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3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Optimized DenseNet121 and Quantum PennyLane Fusion for Explainable Skin Disease Recognition and Classification</a:t>
            </a:r>
            <a:r>
              <a:rPr sz="1600"/>
              <a:t> – Integrates DenseNet121 with quantum PennyLane for explainable skin disease recognition and classification.</a:t>
            </a:r>
            <a:br/>
            <a:r>
              <a:rPr sz="1600">
                <a:hlinkClick xmlns:r="http://schemas.openxmlformats.org/officeDocument/2006/relationships" r:id="R2162f7ff98ce449f"/>
              </a:rPr>
              <a:t>https://ieeexplore.ieee.org/stamp/stamp.jsp?arnumber=11155089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Histopathological Cancer Detection Using Hybrid Quantum Computing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Reek Majumdar, </a:t>
            </a:r>
            <a:r>
              <a:rPr sz="1600"/>
              <a:t>Biswaraj</a:t>
            </a:r>
            <a:r>
              <a:rPr sz="1600"/>
              <a:t> Baral, Bhavika </a:t>
            </a:r>
            <a:r>
              <a:rPr sz="1600"/>
              <a:t>Bhalgamiya</a:t>
            </a:r>
            <a:r>
              <a:rPr sz="1600"/>
              <a:t> and Taposh Dutta Roy; studies hybrid quantum-classical learning and quantum transfer learning for cancer detection.</a:t>
            </a:r>
            <a:br/>
            <a:r>
              <a:rPr sz="1600">
                <a:hlinkClick xmlns:r="http://schemas.openxmlformats.org/officeDocument/2006/relationships" r:id="Rca9dc3df9fe14133"/>
              </a:rPr>
              <a:t>https://arxiv.org/pdf/2302.04633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Enhanced Skin Disease Diagnosis through Convolutional Neural Networks and Data Augmentation Techniques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</a:t>
            </a:r>
            <a:r>
              <a:rPr sz="1600"/>
              <a:t>Muddasar</a:t>
            </a:r>
            <a:r>
              <a:rPr sz="1600"/>
              <a:t> Abbas et al.; evaluates CNN, DenseNet-121 and ResNet-50 models using the HAM10000 dataset for skin disease classification.</a:t>
            </a:r>
            <a:br/>
            <a:r>
              <a:rPr sz="1600">
                <a:hlinkClick xmlns:r="http://schemas.openxmlformats.org/officeDocument/2006/relationships" r:id="Rdcb41a44e86e43bb"/>
              </a:rPr>
              <a:t>https://doi.org/10.56979/701/2024</a:t>
            </a:r>
            <a:endParaRPr sz="1600"/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B3141324-93D8-4D95-B5A0-4B99DBFC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543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4055395F-8946-475B-A47F-BDC5E8D8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23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Datasets Used</a:t>
            </a:r>
          </a:p>
        </p:txBody>
      </p:sp>
      <p:graphicFrame>
        <p:nvGraphicFramePr>
          <p:cNvPr id="17426" name=""/>
          <p:cNvGraphicFramePr/>
          <p:nvPr/>
        </p:nvGraphicFramePr>
        <p:xfrm>
          <a:off xmlns:a="http://schemas.openxmlformats.org/drawingml/2006/main" x="266700" y="1181100"/>
          <a:ext xmlns:a="http://schemas.openxmlformats.org/drawingml/2006/main" cx="116586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610600"/>
              </a:tblGrid>
              <a:tr h="2514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Image dataset – 7 classes – ~10K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Diabetic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Image dataset – 5 classes – retinal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Diabetes Health Indicators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Tabular dataset – 253,680 rows × 22 columns – diabetes classification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Tabular dataset – 70,000 rows × 13 columns – cardiovascular classification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637AE3FB-0DE7-4CE8-B56C-928D77DB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Model Performance</a:t>
            </a:r>
          </a:p>
        </p:txBody>
      </p:sp>
      <p:graphicFrame>
        <p:nvGraphicFramePr>
          <p:cNvPr id="17428" name=""/>
          <p:cNvGraphicFramePr/>
          <p:nvPr/>
        </p:nvGraphicFramePr>
        <p:xfrm>
          <a:off xmlns:a="http://schemas.openxmlformats.org/drawingml/2006/main" x="171450" y="2905125"/>
          <a:ext xmlns:a="http://schemas.openxmlformats.org/drawingml/2006/main" cx="118491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524375"/>
                <a:gridCol w="1209675"/>
                <a:gridCol w="1209675"/>
                <a:gridCol w="1209675"/>
                <a:gridCol w="1219200"/>
              </a:tblGrid>
              <a:tr h="23669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Cancer-8qub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Cancer-4qub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Cancer-2qub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ConvNext_TIney_V2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0.8831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0.8791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0.8799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0.8831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classical baseline_rsenet18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late_fusion_hybrid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quantum_gated_branch(zoom+rotate)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0.86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0.795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0.807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2026-09-05T04:22:55.4720000Z</dcterms:created>
  <dcterms:modified xsi:type="dcterms:W3CDTF">2026-09-05T04:22:55.4720000Z</dcterms:modified>
</coreProperties>
</file>