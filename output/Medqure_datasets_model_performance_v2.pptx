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6ca1082f194a77" /><Relationship Type="http://schemas.openxmlformats.org/officeDocument/2006/relationships/extended-properties" Target="/docProps/app.xml" Id="Rf096e096747e43ba" /><Relationship Type="http://schemas.openxmlformats.org/officeDocument/2006/relationships/officeDocument" Target="/ppt/presentation.xml" Id="Rba14c1b36c364c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70f564c594272"/>
  </p:sldMasterIdLst>
  <p:notesMasterIdLst>
    <p:notesMasterId xmlns:r="http://schemas.openxmlformats.org/officeDocument/2006/relationships" r:id="R83eda6a879d841a4"/>
  </p:notesMasterIdLst>
  <p:sldIdLst>
    <p:sldId xmlns:r="http://schemas.openxmlformats.org/officeDocument/2006/relationships" id="256" r:id="R2d51e2571f7f4086"/>
    <p:sldId xmlns:r="http://schemas.openxmlformats.org/officeDocument/2006/relationships" id="257" r:id="R069b5ed169994a52"/>
    <p:sldId xmlns:r="http://schemas.openxmlformats.org/officeDocument/2006/relationships" id="258" r:id="Rc954fe391f27426b"/>
    <p:sldId xmlns:r="http://schemas.openxmlformats.org/officeDocument/2006/relationships" id="259" r:id="R62e0d56c65d7467a"/>
    <p:sldId xmlns:r="http://schemas.openxmlformats.org/officeDocument/2006/relationships" id="260" r:id="Rfcc0976a74634fd7"/>
    <p:sldId xmlns:r="http://schemas.openxmlformats.org/officeDocument/2006/relationships" id="261" r:id="R65e16b9d72b64f5e"/>
    <p:sldId xmlns:r="http://schemas.openxmlformats.org/officeDocument/2006/relationships" id="262" r:id="R397467b8368240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0ff4147a1048ac" /><Relationship Type="http://schemas.openxmlformats.org/officeDocument/2006/relationships/slideMaster" Target="/ppt/slideMasters/slideMaster1.xml" Id="R87270f564c594272" /><Relationship Type="http://schemas.openxmlformats.org/officeDocument/2006/relationships/notesMaster" Target="/ppt/notesMasters/notesMaster1.xml" Id="R83eda6a879d841a4" /><Relationship Type="http://schemas.openxmlformats.org/officeDocument/2006/relationships/presProps" Target="/ppt/presProps.xml" Id="R469f180eb1954fda" /><Relationship Type="http://schemas.openxmlformats.org/officeDocument/2006/relationships/viewProps" Target="/ppt/viewProps.xml" Id="Rcebc10b207a84b0c" /><Relationship Type="http://schemas.openxmlformats.org/officeDocument/2006/relationships/tableStyles" Target="/ppt/tableStyles.xml" Id="R67aa30a5888c47d2" /><Relationship Type="http://schemas.openxmlformats.org/officeDocument/2006/relationships/slide" Target="/ppt/slides/slide1.xml" Id="R2d51e2571f7f4086" /><Relationship Type="http://schemas.openxmlformats.org/officeDocument/2006/relationships/slide" Target="/ppt/slides/slide2.xml" Id="R069b5ed169994a52" /><Relationship Type="http://schemas.openxmlformats.org/officeDocument/2006/relationships/slide" Target="/ppt/slides/slide3.xml" Id="Rc954fe391f27426b" /><Relationship Type="http://schemas.openxmlformats.org/officeDocument/2006/relationships/slide" Target="/ppt/slides/slide4.xml" Id="R62e0d56c65d7467a" /><Relationship Type="http://schemas.openxmlformats.org/officeDocument/2006/relationships/slide" Target="/ppt/slides/slide5.xml" Id="Rfcc0976a74634fd7" /><Relationship Type="http://schemas.openxmlformats.org/officeDocument/2006/relationships/slide" Target="/ppt/slides/slide6.xml" Id="R65e16b9d72b64f5e" /><Relationship Type="http://schemas.openxmlformats.org/officeDocument/2006/relationships/slide" Target="/ppt/slides/slide7.xml" Id="R397467b8368240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21b4e2651740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2ae6e1f883496a" /><Relationship Type="http://schemas.openxmlformats.org/officeDocument/2006/relationships/notesMaster" Target="/ppt/notesMasters/notesMaster1.xml" Id="R8bfbc694ac5048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f06fe7e9ff4160" /><Relationship Type="http://schemas.openxmlformats.org/officeDocument/2006/relationships/notesMaster" Target="/ppt/notesMasters/notesMaster1.xml" Id="R25abe0569e4341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725019cb984d49" /><Relationship Type="http://schemas.openxmlformats.org/officeDocument/2006/relationships/notesMaster" Target="/ppt/notesMasters/notesMaster1.xml" Id="R2970a8bf376547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bf4865a5a8475a" /><Relationship Type="http://schemas.openxmlformats.org/officeDocument/2006/relationships/notesMaster" Target="/ppt/notesMasters/notesMaster1.xml" Id="R5d18569503ee43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2877b23cac4700" /><Relationship Type="http://schemas.openxmlformats.org/officeDocument/2006/relationships/notesMaster" Target="/ppt/notesMasters/notesMaster1.xml" Id="R0ac5741e6e204b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1f9989d61646a7" /><Relationship Type="http://schemas.openxmlformats.org/officeDocument/2006/relationships/notesMaster" Target="/ppt/notesMasters/notesMaster1.xml" Id="R34fc1065292a4a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a3b228993d4a54" /><Relationship Type="http://schemas.openxmlformats.org/officeDocument/2006/relationships/notesMaster" Target="/ppt/notesMasters/notesMaster1.xml" Id="R2b6aaa48c04448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Performance values transcribed exactly from Final - Sheet1.pdf.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Dataset source links: Skin Cancer https://www.kaggle.com/datasets/farjanakabirsamanta/skin-cancer-dataset | Diabetic Retinopathy https://www.kaggle.com/datasets/sovitrath/diabetic-retinopathy-224x224-gaussian-filtered/data | Diabetes Health Indicators https://www.kaggle.com/datasets/alexteboul/diabetes-health-indicators-dataset | Cardiovascular Disease https://www.kaggle.com/datasets/sulianova/cardiovascular-disease-dataset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935752a8c4d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e58601cc34d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c9a22fc0e46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a931a46e345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3e7bc18f34c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4702ce240426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e8a92ee9549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3e8e9c8834a7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cd815d1c84a9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1f38af9d84ed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2118dfdee4ba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CCFE0B-EDCC-4B60-AA89-1E76BA9C74F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1408F95-C6DE-473B-BCDB-BF5E5A88F2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A2A25E-DBE0-4640-AE35-D495E482D4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21B58D-8AAF-49AA-9EF3-BA98352B55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7D4D19-F777-4EC0-8226-54F7ED6D2C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4E161F-8CB6-461A-BB09-11F35DFD6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41E262-7DA9-4858-AF89-5F59E12E96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B16BDD-9CDA-4082-A7B4-5879C17018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B0CE42-FC52-45F2-B09A-80DB4FFCDB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8CDBBF-D4D3-47C7-BB9A-1CEE3606DE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B013E1-F611-47C7-B471-A44EDAB02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6296A2-1471-45B7-873E-B0E769C338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0F6AB9-8E66-4F1A-ACEA-1672CD62BD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32AE0B-C67A-4142-9AF6-51DC683DA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8DAD6C-C0FD-493B-94C0-E83F5B6158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9EC353-3401-4087-8F41-A3BBDF5741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D39C14-8D7A-42F5-8653-FB676E3A27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2E69303-C7EA-47E6-A393-2FEA17EAEB7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41D7322-CA51-4670-8970-2F98E9460C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263A87-BEDA-4081-8CCB-6E3E05DFE7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F87AC7-CD07-400C-AC83-09E4A7E4C6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72B475-B5FB-4AEE-879A-70DE9F9644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3649C16-0BCA-49F0-8BD4-B57FD29E1C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529AEF-99DA-453B-9259-802579FD80E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0DBCA9E-DDB2-4F69-BFCC-FAC1DA4B75B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4401FD-DD1F-494E-A4D3-098570A0C10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08DBFF-ADEF-4FC8-A4AC-0968628065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9/5/2026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49E8DD-8EF4-40DF-97B8-DC6EA650AD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E939FD-D218-42A2-B6A7-690FCBBFC3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F39E15-9F59-4CC8-A94D-BA65801A2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EA1259-6FAE-483F-86E7-A68DAF6E61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9/5/2026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0E387F-12FA-4279-80E9-1D67FD2CF8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265C8C-98F9-4D6C-87CC-CF01CA51E6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8FFCAD-E5B9-4E24-BC35-3C356739F8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9/5/2026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14C157-A04F-4FB1-A7D1-779A6108BD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375AB4-7392-44E5-801D-FE4C3B6B10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9C1A89-AA3B-4198-98C6-3EF406B7C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269397-933A-4EA3-8740-C8A8C66A33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8D51FDC-7DC2-440A-9809-6255E67F43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FA49F1-2BE1-42D8-AAC1-173927F17F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8735C4-2FE5-4ADC-9B98-FCF294D2E2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8BB2F3-EE78-4ECB-AA1B-8EA7C747A4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E02DCD-45E1-4A1F-8A75-886659C26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BC682D1-EA8C-442C-968F-2647E9CD1AD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5654409-5659-4C0F-8FB8-0A03A91430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CAB1DC-5D95-4B8C-9C3B-E72E62A750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6363D9-7EDC-4522-9F57-2905FED2F7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0C968A-5FBA-4A83-A546-6AF121EB42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2CBF6E-41AA-4965-AEC4-418747958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DE0F1D-AB97-4D96-8788-D6180958C7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DD4D52-0476-4469-8AD8-9811863A80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E1E7C1-E591-4BEF-96BE-6AD2F40583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D257F-F731-41DB-BF76-92A087F7B5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0BA2314-EEE3-4970-9135-A2B2D7C21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4FD92C-F8A4-43F3-98F5-9E6C492F6A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53ECD9-A8C8-40CE-9AD7-D450650216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67C0BA-CF14-4E65-AB77-3B87FDC3E4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CC3CF3-3E91-4E29-9B7F-C92D9DA5DA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20fe49ea064e19" /><Relationship Type="http://schemas.openxmlformats.org/officeDocument/2006/relationships/slideLayout" Target="/ppt/slideLayouts/slideLayout1.xml" Id="R0d65510a7d9f48f2" /><Relationship Type="http://schemas.openxmlformats.org/officeDocument/2006/relationships/slideLayout" Target="/ppt/slideLayouts/slideLayout2.xml" Id="R076fc4dd453f4fa6" /><Relationship Type="http://schemas.openxmlformats.org/officeDocument/2006/relationships/slideLayout" Target="/ppt/slideLayouts/slideLayout3.xml" Id="R3bacd0d3848642ef" /><Relationship Type="http://schemas.openxmlformats.org/officeDocument/2006/relationships/slideLayout" Target="/ppt/slideLayouts/slideLayout4.xml" Id="Rcd4532408b724a37" /><Relationship Type="http://schemas.openxmlformats.org/officeDocument/2006/relationships/slideLayout" Target="/ppt/slideLayouts/slideLayout5.xml" Id="Ra736ce1396144f2d" /><Relationship Type="http://schemas.openxmlformats.org/officeDocument/2006/relationships/slideLayout" Target="/ppt/slideLayouts/slideLayout6.xml" Id="R6856f46b268243ed" /><Relationship Type="http://schemas.openxmlformats.org/officeDocument/2006/relationships/slideLayout" Target="/ppt/slideLayouts/slideLayout7.xml" Id="Rbbfa0ccc1f5a4fd7" /><Relationship Type="http://schemas.openxmlformats.org/officeDocument/2006/relationships/slideLayout" Target="/ppt/slideLayouts/slideLayout8.xml" Id="R852c758d70e449d7" /><Relationship Type="http://schemas.openxmlformats.org/officeDocument/2006/relationships/slideLayout" Target="/ppt/slideLayouts/slideLayout9.xml" Id="R04ed2ce7c71541ba" /><Relationship Type="http://schemas.openxmlformats.org/officeDocument/2006/relationships/slideLayout" Target="/ppt/slideLayouts/slideLayout10.xml" Id="R9017894b90eb42e2" /><Relationship Type="http://schemas.openxmlformats.org/officeDocument/2006/relationships/slideLayout" Target="/ppt/slideLayouts/slideLayout11.xml" Id="Rba579bbb020b4e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1F9CF98-A8C2-4023-8EEF-90D84443E6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2E359E-1E79-4596-9E0F-118B5F91DD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20EF56-608B-44D0-AC33-602926C2F0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BF4EB7-F6C4-4FCC-B811-4D163E1D45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96270F-D488-4634-96E3-05F588476F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5510a7d9f48f2"/>
    <p:sldLayoutId xmlns:r="http://schemas.openxmlformats.org/officeDocument/2006/relationships" id="2147483650" r:id="R076fc4dd453f4fa6"/>
    <p:sldLayoutId xmlns:r="http://schemas.openxmlformats.org/officeDocument/2006/relationships" id="2147483651" r:id="R3bacd0d3848642ef"/>
    <p:sldLayoutId xmlns:r="http://schemas.openxmlformats.org/officeDocument/2006/relationships" id="2147483652" r:id="Rcd4532408b724a37"/>
    <p:sldLayoutId xmlns:r="http://schemas.openxmlformats.org/officeDocument/2006/relationships" id="2147483653" r:id="Ra736ce1396144f2d"/>
    <p:sldLayoutId xmlns:r="http://schemas.openxmlformats.org/officeDocument/2006/relationships" id="2147483654" r:id="R6856f46b268243ed"/>
    <p:sldLayoutId xmlns:r="http://schemas.openxmlformats.org/officeDocument/2006/relationships" id="2147483655" r:id="Rbbfa0ccc1f5a4fd7"/>
    <p:sldLayoutId xmlns:r="http://schemas.openxmlformats.org/officeDocument/2006/relationships" id="2147483656" r:id="R852c758d70e449d7"/>
    <p:sldLayoutId xmlns:r="http://schemas.openxmlformats.org/officeDocument/2006/relationships" id="2147483657" r:id="R04ed2ce7c71541ba"/>
    <p:sldLayoutId xmlns:r="http://schemas.openxmlformats.org/officeDocument/2006/relationships" id="2147483658" r:id="R9017894b90eb42e2"/>
    <p:sldLayoutId xmlns:r="http://schemas.openxmlformats.org/officeDocument/2006/relationships" id="2147483659" r:id="Rba579bbb020b4eba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8f7ad242e447e" /><Relationship Type="http://schemas.openxmlformats.org/officeDocument/2006/relationships/image" Target="/ppt/media/image.png" Id="R7ee72fedecc04cfd" /><Relationship Type="http://schemas.openxmlformats.org/officeDocument/2006/relationships/image" Target="/ppt/media/image2.png" Id="Rd143a175ec9743dc" /><Relationship Type="http://schemas.openxmlformats.org/officeDocument/2006/relationships/notesSlide" Target="/ppt/notesSlides/notesSlide1.xml" Id="R4e8f4851b3b04b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e1f25057c24d04" /><Relationship Type="http://schemas.openxmlformats.org/officeDocument/2006/relationships/image" Target="/ppt/media/image2.png" Id="R611209c98f814df5" /><Relationship Type="http://schemas.openxmlformats.org/officeDocument/2006/relationships/image" Target="/ppt/media/image3.png" Id="R84ddc08180ec495f" /><Relationship Type="http://schemas.openxmlformats.org/officeDocument/2006/relationships/image" Target="/ppt/media/image4.png" Id="Raf85d5c83811419e" /><Relationship Type="http://schemas.openxmlformats.org/officeDocument/2006/relationships/notesSlide" Target="/ppt/notesSlides/notesSlide2.xml" Id="R09be6617eb8146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2fe01a557e446f" /><Relationship Type="http://schemas.openxmlformats.org/officeDocument/2006/relationships/image" Target="/ppt/media/image2.png" Id="R55395fe2a37743f4" /><Relationship Type="http://schemas.openxmlformats.org/officeDocument/2006/relationships/image" Target="/ppt/media/image3.png" Id="R542a9ccef2d54222" /><Relationship Type="http://schemas.openxmlformats.org/officeDocument/2006/relationships/image" Target="/ppt/media/image5.png" Id="Re5bd4e89044f4822" /><Relationship Type="http://schemas.openxmlformats.org/officeDocument/2006/relationships/notesSlide" Target="/ppt/notesSlides/notesSlide3.xml" Id="Rf41f40e3f37243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ba6db1146040f8" /><Relationship Type="http://schemas.openxmlformats.org/officeDocument/2006/relationships/image" Target="/ppt/media/image2.png" Id="R131d605339f648cb" /><Relationship Type="http://schemas.openxmlformats.org/officeDocument/2006/relationships/image" Target="/ppt/media/image3.png" Id="Re498358613f3490b" /><Relationship Type="http://schemas.openxmlformats.org/officeDocument/2006/relationships/image" Target="/ppt/media/image6.png" Id="R952badc6e3a540d9" /><Relationship Type="http://schemas.openxmlformats.org/officeDocument/2006/relationships/notesSlide" Target="/ppt/notesSlides/notesSlide4.xml" Id="Rc79de99465e34b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5adc70b82a4d5e" /><Relationship Type="http://schemas.openxmlformats.org/officeDocument/2006/relationships/image" Target="/ppt/media/image2.png" Id="R4457ac1ad6ad4b72" /><Relationship Type="http://schemas.openxmlformats.org/officeDocument/2006/relationships/image" Target="/ppt/media/image3.png" Id="R01e35dd07d6c4fee" /><Relationship Type="http://schemas.openxmlformats.org/officeDocument/2006/relationships/notesSlide" Target="/ppt/notesSlides/notesSlide5.xml" Id="R65cdeb52729c47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4e9f347c614ff5" /><Relationship Type="http://schemas.openxmlformats.org/officeDocument/2006/relationships/image" Target="/ppt/media/image2.png" Id="R800641693d0a412a" /><Relationship Type="http://schemas.openxmlformats.org/officeDocument/2006/relationships/image" Target="/ppt/media/image3.png" Id="R0d5b5cc5a8b740a5" /><Relationship Type="http://schemas.openxmlformats.org/officeDocument/2006/relationships/hyperlink" Target="https://ieeexplore.ieee.org/stamp/stamp.jsp?arnumber=11039626" TargetMode="External" Id="R63dd7acfda2c40c1" /><Relationship Type="http://schemas.openxmlformats.org/officeDocument/2006/relationships/hyperlink" Target="https://ieeexplore.ieee.org/stamp/stamp.jsp?arnumber=10613907" TargetMode="External" Id="R08cf43efcc0f42de" /><Relationship Type="http://schemas.openxmlformats.org/officeDocument/2006/relationships/hyperlink" Target="https://ieeexplore.ieee.org/stamp/stamp.jsp?arnumber=11155089" TargetMode="External" Id="Refbcfeb850a743cf" /><Relationship Type="http://schemas.openxmlformats.org/officeDocument/2006/relationships/hyperlink" Target="https://arxiv.org/pdf/2302.04633" TargetMode="External" Id="R1b61c0602a9e4595" /><Relationship Type="http://schemas.openxmlformats.org/officeDocument/2006/relationships/hyperlink" Target="https://doi.org/10.56979/701/2024" TargetMode="External" Id="Rff2630d2d4ab457f" /><Relationship Type="http://schemas.openxmlformats.org/officeDocument/2006/relationships/notesSlide" Target="/ppt/notesSlides/notesSlide6.xml" Id="Rab005239ca664e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659ca7fcc54685" /><Relationship Type="http://schemas.openxmlformats.org/officeDocument/2006/relationships/image" Target="/ppt/media/image2.png" Id="Re9a0c6ea1c2c4e9b" /><Relationship Type="http://schemas.openxmlformats.org/officeDocument/2006/relationships/image" Target="/ppt/media/image3.png" Id="R29c8737ec1d7408e" /><Relationship Type="http://schemas.openxmlformats.org/officeDocument/2006/relationships/hyperlink" Target="https://ieeexplore.ieee.org/stamp/stamp.jsp?arnumber=11039626" TargetMode="External" Id="R4b77652062c249f3" /><Relationship Type="http://schemas.openxmlformats.org/officeDocument/2006/relationships/hyperlink" Target="https://ieeexplore.ieee.org/stamp/stamp.jsp?arnumber=10613907" TargetMode="External" Id="Re1d9f64074834163" /><Relationship Type="http://schemas.openxmlformats.org/officeDocument/2006/relationships/hyperlink" Target="https://ieeexplore.ieee.org/stamp/stamp.jsp?arnumber=11155089" TargetMode="External" Id="Rc99ed3623d7d48c2" /><Relationship Type="http://schemas.openxmlformats.org/officeDocument/2006/relationships/hyperlink" Target="https://arxiv.org/pdf/2302.04633" TargetMode="External" Id="Rc2a914bb8960447f" /><Relationship Type="http://schemas.openxmlformats.org/officeDocument/2006/relationships/hyperlink" Target="https://doi.org/10.56979/701/2024" TargetMode="External" Id="R6e0bb18b30d448c7" /><Relationship Type="http://schemas.openxmlformats.org/officeDocument/2006/relationships/notesSlide" Target="/ppt/notesSlides/notesSlide7.xml" Id="R7a4c6e36ee6041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e72fedecc04cfd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D4309437-EB4B-4E50-85C2-463061343DE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9964099" cy="1546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C80F157-F5C9-456B-BDC7-4BCB95BD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1500"/>
            <a:ext cx="6410391" cy="67179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</a:t>
            </a:r>
            <a:r>
              <a:rPr sz="24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–  </a:t>
            </a:r>
            <a:r>
              <a:rPr sz="2400">
                <a:solidFill>
                  <a:schemeClr val="tx2"/>
                </a:solidFill>
              </a:rPr>
              <a:t>SIH26139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 </a:t>
            </a:r>
            <a:r>
              <a:rPr sz="2400">
                <a:solidFill>
                  <a:schemeClr val="tx2"/>
                </a:solidFill>
              </a:rPr>
              <a:t>Hybrid Quantum Machine Learning Platform for Early Disease Detection .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 </a:t>
            </a:r>
            <a:r>
              <a:rPr sz="2400">
                <a:solidFill>
                  <a:schemeClr val="tx2"/>
                </a:solidFill>
              </a:rPr>
              <a:t>HealthTech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AlgoX</a:t>
            </a:r>
            <a:endParaRPr sz="2400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3a175ec9743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369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819337D-A981-4289-83A4-5A903F0B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A0A6248D-89A0-477D-A759-A9359B363C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89281"/>
            <a:ext cx="10317598" cy="457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000" b="1">
                <a:latin typeface="Times New Roman"/>
                <a:ea typeface="Times New Roman"/>
                <a:cs typeface="Times New Roman"/>
              </a:rPr>
              <a:t>MedQure</a:t>
            </a:r>
            <a:r>
              <a:rPr sz="4000" b="1">
                <a:latin typeface="Times New Roman"/>
                <a:ea typeface="Times New Roman"/>
                <a:cs typeface="Times New Roman"/>
              </a:rPr>
              <a:t> Proposed Solution</a:t>
            </a:r>
            <a:br/>
            <a:endParaRPr sz="4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1FFFB6-0B16-47ED-A889-6CA37F286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D0432D5-E284-4158-8430-D6F208F4EE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 Team </a:t>
            </a:r>
            <a:r>
              <a:rPr>
                <a:solidFill>
                  <a:schemeClr val="bg1"/>
                </a:solidFill>
              </a:rPr>
              <a:t>Algox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536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209c98f814d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3" name="Rectangle: Rounded Corners 2">
            <a:extLst xmlns:a="http://schemas.openxmlformats.org/drawingml/2006/main">
              <a:ext uri="{FF2B5EF4-FFF2-40B4-BE49-F238E27FC236}">
                <a16:creationId xmlns:a16="http://schemas.microsoft.com/office/drawing/2014/main" id="{CF2C18E8-B4A4-9CB5-84A0-D6D4F4F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98" y="771522"/>
            <a:ext cx="5341502" cy="5583239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Innovation and Uniqueness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</a:t>
            </a:r>
            <a:r>
              <a:rPr b="1">
                <a:solidFill>
                  <a:schemeClr val="tx1"/>
                </a:solidFill>
              </a:rPr>
              <a:t> Hybrid Quantum-Classical AI</a:t>
            </a:r>
            <a:r>
              <a:rPr>
                <a:solidFill>
                  <a:schemeClr val="tx1"/>
                </a:solidFill>
              </a:rPr>
              <a:t>: Combines classical preprocessing with Quantum Machine Learning for practical early disease detection.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</a:rPr>
              <a:t>• Adaptive Feature Reduction</a:t>
            </a:r>
            <a:r>
              <a:rPr>
                <a:solidFill>
                  <a:schemeClr val="tx1"/>
                </a:solidFill>
              </a:rPr>
              <a:t>: Reduces high-dimensional biomedical data before quantum encoding to work within limited qubit availability.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Quantum-Classical Benchmarking: </a:t>
            </a:r>
            <a:r>
              <a:rPr>
                <a:solidFill>
                  <a:schemeClr val="tx1"/>
                </a:solidFill>
              </a:rPr>
              <a:t>Compares quantum and classical models using the same processed dataset and evaluation metrics.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Explainable Prediction: </a:t>
            </a:r>
            <a:r>
              <a:rPr>
                <a:solidFill>
                  <a:schemeClr val="tx1"/>
                </a:solidFill>
              </a:rPr>
              <a:t>Provides prediction confidence and feature-level insights to make model outputs easier to understand.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Hardware-Ready Architecture: </a:t>
            </a:r>
            <a:r>
              <a:rPr>
                <a:solidFill>
                  <a:schemeClr val="tx1"/>
                </a:solidFill>
              </a:rPr>
              <a:t>Supports quantum simulators during development and can be extended to near-term quantum hardware.</a:t>
            </a:r>
          </a:p>
        </p:txBody>
      </p:sp>
      <p:pic>
        <p:nvPicPr>
          <p:cNvPr id="1537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dc08180ec49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537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5d5c8381141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07498" y="1063837"/>
            <a:ext cx="6178339" cy="52351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356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19576DF-7919-4E74-9421-4E66D94C3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585A37-27FA-4F1B-897B-CF02BF8122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3B8C98A-92AD-4A2B-97AE-B4D77B1721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Team </a:t>
            </a:r>
            <a:r>
              <a:rPr>
                <a:solidFill>
                  <a:schemeClr val="bg1"/>
                </a:solidFill>
              </a:rPr>
              <a:t>AlgoX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741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95fe2a37743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946313"/>
          </a:xfrm>
          <a:prstGeom xmlns:a="http://schemas.openxmlformats.org/drawingml/2006/main" prst="rect">
            <a:avLst/>
          </a:prstGeom>
        </p:spPr>
      </p:pic>
      <p:pic>
        <p:nvPicPr>
          <p:cNvPr id="1741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a9ccef2d54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74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d4e89044f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064" y="996938"/>
            <a:ext cx="11867872" cy="53578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920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B1ED26B0-BC85-499D-B386-B1A2F49E8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57569E-C37D-472E-A358-C01A882A84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95B6BFA-4C1F-4C08-A27C-4DF0E24C05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</a:t>
            </a:r>
            <a:r>
              <a:rPr>
                <a:solidFill>
                  <a:prstClr val="white"/>
                </a:solidFill>
              </a:rPr>
              <a:t>eam</a:t>
            </a:r>
            <a:r>
              <a:rPr>
                <a:solidFill>
                  <a:prstClr val="white"/>
                </a:solidFill>
              </a:rPr>
              <a:t>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d605339f648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8358613f349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74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badc6e3a540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95375"/>
            <a:ext cx="12192000" cy="5227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2A6AD5CD-AA3A-4E1F-AFD1-792DF8877B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6BFF58-5620-4ED5-8EAB-007851D756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071FDB2-4045-495E-A4D9-B48B301FE0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Team </a:t>
            </a: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7ac1ad6ad4b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35dd07d6c4f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3" name="Rectangle: Rounded Corners 2">
            <a:extLst xmlns:a="http://schemas.openxmlformats.org/drawingml/2006/main">
              <a:ext uri="{FF2B5EF4-FFF2-40B4-BE49-F238E27FC236}">
                <a16:creationId xmlns:a16="http://schemas.microsoft.com/office/drawing/2014/main" id="{7F21D715-CE6C-B2A2-68B3-C2ECA7CB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3837"/>
            <a:ext cx="5394464" cy="515440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Early Disease Detection </a:t>
            </a:r>
            <a:r>
              <a:rPr sz="1600">
                <a:solidFill>
                  <a:schemeClr val="tx1"/>
                </a:solidFill>
              </a:rPr>
              <a:t>– Supports identification of potential disease risks at an earlier stage, enabling timely clinical attention and follow-up.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Improved Diagnostic Support </a:t>
            </a:r>
            <a:r>
              <a:rPr sz="1600">
                <a:solidFill>
                  <a:schemeClr val="tx1"/>
                </a:solidFill>
              </a:rPr>
              <a:t>– Provides AI-assisted predictions that can help healthcare professionals analyze complex biomedical data more efficiently.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Explainable Predictions </a:t>
            </a:r>
            <a:r>
              <a:rPr sz="1600">
                <a:solidFill>
                  <a:schemeClr val="tx1"/>
                </a:solidFill>
              </a:rPr>
              <a:t>– Shows confidence scores and important features behind predictions, improving transparency and user trust.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Research Advancement </a:t>
            </a:r>
            <a:r>
              <a:rPr sz="1600">
                <a:solidFill>
                  <a:schemeClr val="tx1"/>
                </a:solidFill>
              </a:rPr>
              <a:t>– Provides researchers with a platform to experiment with and benchmark Quantum Machine Learning on biomedical datasets.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Data-Driven Healthcare </a:t>
            </a:r>
            <a:r>
              <a:rPr sz="1600">
                <a:solidFill>
                  <a:schemeClr val="tx1"/>
                </a:solidFill>
              </a:rPr>
              <a:t>– Enables visualization of prediction results, model performance and comparative insights through an interactive dashboard.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8B9A7DD4-CB06-92D2-BC54-3B09C71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464" y="1063837"/>
            <a:ext cx="5415400" cy="515440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Hybrid &amp; Practical </a:t>
            </a:r>
            <a:r>
              <a:rPr sz="1600">
                <a:solidFill>
                  <a:srgbClr val="010000"/>
                </a:solidFill>
              </a:rPr>
              <a:t>– Combines classical ML with Quantum ML, making the solution usable with current quantum simulators and adaptable to near-term quantum hardware.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Handles Complex Data </a:t>
            </a:r>
            <a:r>
              <a:rPr sz="1600">
                <a:solidFill>
                  <a:srgbClr val="010000"/>
                </a:solidFill>
              </a:rPr>
              <a:t>– Uses preprocessing, feature selection and dimensionality reduction to manage high-dimensional biomedical datasets efficiently.</a:t>
            </a:r>
          </a:p>
          <a:p xmlns:a="http://schemas.openxmlformats.org/drawingml/2006/main">
            <a:endParaRPr sz="1600" b="1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Quantum-Classical Comparison </a:t>
            </a:r>
            <a:r>
              <a:rPr sz="1600">
                <a:solidFill>
                  <a:srgbClr val="010000"/>
                </a:solidFill>
              </a:rPr>
              <a:t>– Provides direct benchmarking of classical and quantum models using common evaluation metrics.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Transparent &amp; Trustworthy </a:t>
            </a:r>
            <a:r>
              <a:rPr sz="1600">
                <a:solidFill>
                  <a:srgbClr val="010000"/>
                </a:solidFill>
              </a:rPr>
              <a:t>– Provides explainability, confidence scores and feature-level insights instead of only presenting a final prediction.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Scalable Research Platform </a:t>
            </a:r>
            <a:r>
              <a:rPr sz="1600">
                <a:solidFill>
                  <a:srgbClr val="010000"/>
                </a:solidFill>
              </a:rPr>
              <a:t>– Supports multiple biomedical datasets, ML/QML algorithms and future integration.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4F101EB-3B18-4B57-AA11-D3D033BA4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7E83F4-C9CB-488F-816C-5F2C0C269E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57ED532-14F5-42ED-BCB4-516F6F206A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</a:t>
            </a:r>
            <a:r>
              <a:rPr>
                <a:solidFill>
                  <a:prstClr val="white"/>
                </a:solidFill>
              </a:rPr>
              <a:t>Team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641693d0a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b5cc5a8b7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2D7630-CA94-28AD-69E7-4959CE3C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" y="949537"/>
            <a:ext cx="11846936" cy="526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2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Field &amp; Applied Research</a:t>
            </a:r>
          </a:p>
          <a:p xmlns:a="http://schemas.openxmlformats.org/drawingml/2006/main">
            <a:pPr>
              <a:buNone/>
            </a:pPr>
            <a:r>
              <a:rPr sz="1600"/>
              <a:t>• Studied </a:t>
            </a:r>
            <a:r>
              <a:rPr sz="1600" b="1"/>
              <a:t>Quantum Machine Learning (QML)</a:t>
            </a:r>
            <a:r>
              <a:rPr sz="1600"/>
              <a:t> approaches for healthcare and disease detection using medical and biomedical datasets.</a:t>
            </a:r>
          </a:p>
          <a:p xmlns:a="http://schemas.openxmlformats.org/drawingml/2006/main">
            <a:pPr>
              <a:buNone/>
            </a:pPr>
            <a:r>
              <a:rPr sz="1600"/>
              <a:t>• Reviewed </a:t>
            </a:r>
            <a:r>
              <a:rPr sz="1600" b="1"/>
              <a:t>hybrid quantum-classical models, quantum transfer learning, CNN-based diagnosis, feature extraction and classification techniques</a:t>
            </a:r>
            <a:r>
              <a:rPr sz="1600"/>
              <a:t> relevant to early disease detection.</a:t>
            </a:r>
          </a:p>
          <a:p xmlns:a="http://schemas.openxmlformats.org/drawingml/2006/main">
            <a:pPr>
              <a:buNone/>
            </a:pPr>
            <a:endParaRPr sz="1600"/>
          </a:p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Academic &amp; Research Sources</a:t>
            </a:r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1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A Hybrid Quantum-Classical Approach for Multi-Class Skin Disease Classification Using a 4-Qubit Model</a:t>
            </a:r>
            <a:r>
              <a:rPr sz="1600"/>
              <a:t> – Proposes a hybrid quantum-classical framework using a 4-qubit quantum system to classify multiple skin diseases.</a:t>
            </a:r>
            <a:br/>
            <a:r>
              <a:rPr sz="1600">
                <a:hlinkClick xmlns:r="http://schemas.openxmlformats.org/officeDocument/2006/relationships" r:id="R63dd7acfda2c40c1"/>
              </a:rPr>
              <a:t>https://ieeexplore.ieee.org/stamp/stamp.jsp?arnumber=11039626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2: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 i="1"/>
              <a:t>Exploring Quantum Machine Learning for Enhanced Skin Lesion Classification: A Comparative Study of Implementation Methods</a:t>
            </a:r>
            <a:r>
              <a:rPr sz="1600"/>
              <a:t> – Compares different QML implementation approaches for skin-lesion classification.</a:t>
            </a:r>
            <a:br/>
            <a:r>
              <a:rPr sz="1600">
                <a:hlinkClick xmlns:r="http://schemas.openxmlformats.org/officeDocument/2006/relationships" r:id="R08cf43efcc0f42de"/>
              </a:rPr>
              <a:t>https://ieeexplore.ieee.org/stamp/stamp.jsp?arnumber=10613907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3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Optimized DenseNet121 and Quantum PennyLane Fusion for Explainable Skin Disease Recognition and Classification</a:t>
            </a:r>
            <a:r>
              <a:rPr sz="1600"/>
              <a:t> – Integrates DenseNet121 with quantum PennyLane for explainable skin disease recognition and classification.</a:t>
            </a:r>
            <a:br/>
            <a:r>
              <a:rPr sz="1600">
                <a:hlinkClick xmlns:r="http://schemas.openxmlformats.org/officeDocument/2006/relationships" r:id="Refbcfeb850a743cf"/>
              </a:rPr>
              <a:t>https://ieeexplore.ieee.org/stamp/stamp.jsp?arnumber=11155089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Histopathological Cancer Detection Using Hybrid Quantum Computing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Reek Majumdar, </a:t>
            </a:r>
            <a:r>
              <a:rPr sz="1600"/>
              <a:t>Biswaraj</a:t>
            </a:r>
            <a:r>
              <a:rPr sz="1600"/>
              <a:t> Baral, Bhavika </a:t>
            </a:r>
            <a:r>
              <a:rPr sz="1600"/>
              <a:t>Bhalgamiya</a:t>
            </a:r>
            <a:r>
              <a:rPr sz="1600"/>
              <a:t> and Taposh Dutta Roy; studies hybrid quantum-classical learning and quantum transfer learning for cancer detection.</a:t>
            </a:r>
            <a:br/>
            <a:r>
              <a:rPr sz="1600">
                <a:hlinkClick xmlns:r="http://schemas.openxmlformats.org/officeDocument/2006/relationships" r:id="R1b61c0602a9e4595"/>
              </a:rPr>
              <a:t>https://arxiv.org/pdf/2302.04633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Enhanced Skin Disease Diagnosis through Convolutional Neural Networks and Data Augmentation Techniques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</a:t>
            </a:r>
            <a:r>
              <a:rPr sz="1600"/>
              <a:t>Muddasar</a:t>
            </a:r>
            <a:r>
              <a:rPr sz="1600"/>
              <a:t> Abbas et al.; evaluates CNN, DenseNet-121 and ResNet-50 models using the HAM10000 dataset for skin disease classification.</a:t>
            </a:r>
            <a:br/>
            <a:r>
              <a:rPr sz="1600">
                <a:hlinkClick xmlns:r="http://schemas.openxmlformats.org/officeDocument/2006/relationships" r:id="Rff2630d2d4ab457f"/>
              </a:rPr>
              <a:t>https://doi.org/10.56979/701/2024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4F101EB-3B18-4B57-AA11-D3D033BA4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DATASETS &amp; MODEL PERFORMANCE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7E83F4-C9CB-488F-816C-5F2C0C269E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57ED532-14F5-42ED-BCB4-516F6F206A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</a:t>
            </a:r>
            <a:r>
              <a:rPr>
                <a:solidFill>
                  <a:prstClr val="white"/>
                </a:solidFill>
              </a:rPr>
              <a:t>Team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2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0c6ea1c2c4e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2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8737ec1d740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2D7630-CA94-28AD-69E7-4959CE3C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" y="949537"/>
            <a:ext cx="11846936" cy="526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2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Field &amp; Applied Research</a:t>
            </a:r>
          </a:p>
          <a:p xmlns:a="http://schemas.openxmlformats.org/drawingml/2006/main">
            <a:pPr>
              <a:buNone/>
            </a:pPr>
            <a:r>
              <a:rPr sz="1600"/>
              <a:t>• Studied </a:t>
            </a:r>
            <a:r>
              <a:rPr sz="1600" b="1"/>
              <a:t>Quantum Machine Learning (QML)</a:t>
            </a:r>
            <a:r>
              <a:rPr sz="1600"/>
              <a:t> approaches for healthcare and disease detection using medical and biomedical datasets.</a:t>
            </a:r>
          </a:p>
          <a:p xmlns:a="http://schemas.openxmlformats.org/drawingml/2006/main">
            <a:pPr>
              <a:buNone/>
            </a:pPr>
            <a:r>
              <a:rPr sz="1600"/>
              <a:t>• Reviewed </a:t>
            </a:r>
            <a:r>
              <a:rPr sz="1600" b="1"/>
              <a:t>hybrid quantum-classical models, quantum transfer learning, CNN-based diagnosis, feature extraction and classification techniques</a:t>
            </a:r>
            <a:r>
              <a:rPr sz="1600"/>
              <a:t> relevant to early disease detection.</a:t>
            </a:r>
          </a:p>
          <a:p xmlns:a="http://schemas.openxmlformats.org/drawingml/2006/main">
            <a:pPr>
              <a:buNone/>
            </a:pPr>
            <a:endParaRPr sz="1600"/>
          </a:p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Academic &amp; Research Sources</a:t>
            </a:r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1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A Hybrid Quantum-Classical Approach for Multi-Class Skin Disease Classification Using a 4-Qubit Model</a:t>
            </a:r>
            <a:r>
              <a:rPr sz="1600"/>
              <a:t> – Proposes a hybrid quantum-classical framework using a 4-qubit quantum system to classify multiple skin diseases.</a:t>
            </a:r>
            <a:br/>
            <a:r>
              <a:rPr sz="1600">
                <a:hlinkClick xmlns:r="http://schemas.openxmlformats.org/officeDocument/2006/relationships" r:id="R4b77652062c249f3"/>
              </a:rPr>
              <a:t>https://ieeexplore.ieee.org/stamp/stamp.jsp?arnumber=11039626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2: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 i="1"/>
              <a:t>Exploring Quantum Machine Learning for Enhanced Skin Lesion Classification: A Comparative Study of Implementation Methods</a:t>
            </a:r>
            <a:r>
              <a:rPr sz="1600"/>
              <a:t> – Compares different QML implementation approaches for skin-lesion classification.</a:t>
            </a:r>
            <a:br/>
            <a:r>
              <a:rPr sz="1600">
                <a:hlinkClick xmlns:r="http://schemas.openxmlformats.org/officeDocument/2006/relationships" r:id="Re1d9f64074834163"/>
              </a:rPr>
              <a:t>https://ieeexplore.ieee.org/stamp/stamp.jsp?arnumber=10613907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3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Optimized DenseNet121 and Quantum PennyLane Fusion for Explainable Skin Disease Recognition and Classification</a:t>
            </a:r>
            <a:r>
              <a:rPr sz="1600"/>
              <a:t> – Integrates DenseNet121 with quantum PennyLane for explainable skin disease recognition and classification.</a:t>
            </a:r>
            <a:br/>
            <a:r>
              <a:rPr sz="1600">
                <a:hlinkClick xmlns:r="http://schemas.openxmlformats.org/officeDocument/2006/relationships" r:id="Rc99ed3623d7d48c2"/>
              </a:rPr>
              <a:t>https://ieeexplore.ieee.org/stamp/stamp.jsp?arnumber=11155089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Histopathological Cancer Detection Using Hybrid Quantum Computing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Reek Majumdar, </a:t>
            </a:r>
            <a:r>
              <a:rPr sz="1600"/>
              <a:t>Biswaraj</a:t>
            </a:r>
            <a:r>
              <a:rPr sz="1600"/>
              <a:t> Baral, Bhavika </a:t>
            </a:r>
            <a:r>
              <a:rPr sz="1600"/>
              <a:t>Bhalgamiya</a:t>
            </a:r>
            <a:r>
              <a:rPr sz="1600"/>
              <a:t> and Taposh Dutta Roy; studies hybrid quantum-classical learning and quantum transfer learning for cancer detection.</a:t>
            </a:r>
            <a:br/>
            <a:r>
              <a:rPr sz="1600">
                <a:hlinkClick xmlns:r="http://schemas.openxmlformats.org/officeDocument/2006/relationships" r:id="Rc2a914bb8960447f"/>
              </a:rPr>
              <a:t>https://arxiv.org/pdf/2302.04633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Enhanced Skin Disease Diagnosis through Convolutional Neural Networks and Data Augmentation Techniques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</a:t>
            </a:r>
            <a:r>
              <a:rPr sz="1600"/>
              <a:t>Muddasar</a:t>
            </a:r>
            <a:r>
              <a:rPr sz="1600"/>
              <a:t> Abbas et al.; evaluates CNN, DenseNet-121 and ResNet-50 models using the HAM10000 dataset for skin disease classification.</a:t>
            </a:r>
            <a:br/>
            <a:r>
              <a:rPr sz="1600">
                <a:hlinkClick xmlns:r="http://schemas.openxmlformats.org/officeDocument/2006/relationships" r:id="R6e0bb18b30d448c7"/>
              </a:rPr>
              <a:t>https://doi.org/10.56979/701/2024</a:t>
            </a:r>
            <a:endParaRPr sz="1600"/>
          </a:p>
        </p:txBody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58419C8B-9AA7-47A3-AA41-D66AD14B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543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ECA2A281-85ED-486B-A821-09A06E9E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23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Datasets Used</a:t>
            </a:r>
          </a:p>
        </p:txBody>
      </p:sp>
      <p:graphicFrame>
        <p:nvGraphicFramePr>
          <p:cNvPr id="17426" name=""/>
          <p:cNvGraphicFramePr/>
          <p:nvPr/>
        </p:nvGraphicFramePr>
        <p:xfrm>
          <a:off xmlns:a="http://schemas.openxmlformats.org/drawingml/2006/main" x="266700" y="1181100"/>
          <a:ext xmlns:a="http://schemas.openxmlformats.org/drawingml/2006/main" cx="116586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8610600"/>
              </a:tblGrid>
              <a:tr h="251460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Skin Cancer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dataset – 7 classes – ~10K images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Diabetic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dataset – 5 classes – retinal images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Diabetes Health Indicators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Tabular dataset – 253,680 rows × 22 columns – diabetes classification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Tabular dataset – 70,000 rows × 13 columns – cardiovascular classification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94881F39-FF21-48B9-BB3A-6680D7B9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Model Performance</a:t>
            </a:r>
          </a:p>
        </p:txBody>
      </p:sp>
      <p:graphicFrame>
        <p:nvGraphicFramePr>
          <p:cNvPr id="17428" name=""/>
          <p:cNvGraphicFramePr/>
          <p:nvPr/>
        </p:nvGraphicFramePr>
        <p:xfrm>
          <a:off xmlns:a="http://schemas.openxmlformats.org/drawingml/2006/main" x="171450" y="2905125"/>
          <a:ext xmlns:a="http://schemas.openxmlformats.org/drawingml/2006/main" cx="118491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524375"/>
                <a:gridCol w="1209675"/>
                <a:gridCol w="1209675"/>
                <a:gridCol w="1209675"/>
                <a:gridCol w="1219200"/>
              </a:tblGrid>
              <a:tr h="236696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Cancer-8qub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Resnet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Cancer-4qub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Resnet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0.834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Cancer-2qub</a:t>
                      </a:r>
                    </a:p>
                  </a:txBody>
                  <a:tcPr marL="66675" marR="47625" marT="9525" marB="9525" anchor="ctr" horzOverflow="clip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ConvNext_TIney_V2</a:t>
                      </a:r>
                    </a:p>
                  </a:txBody>
                  <a:tcPr marL="66675" marR="47625" marT="9525" marB="9525" anchor="ctr" horzOverflow="clip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0.8831</a:t>
                      </a:r>
                    </a:p>
                  </a:txBody>
                  <a:tcPr marL="66675" marR="47625" marT="9525" marB="9525" anchor="ctr" horzOverflow="clip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0.8791</a:t>
                      </a:r>
                    </a:p>
                  </a:txBody>
                  <a:tcPr marL="66675" marR="47625" marT="9525" marB="9525" anchor="ctr" horzOverflow="clip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0.8799</a:t>
                      </a:r>
                    </a:p>
                  </a:txBody>
                  <a:tcPr marL="66675" marR="47625" marT="9525" marB="9525" anchor="ctr" horzOverflow="clip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0.8831</a:t>
                      </a:r>
                    </a:p>
                  </a:txBody>
                  <a:tcPr marL="66675" marR="47625" marT="9525" marB="9525" anchor="ctr" horzOverflow="clip">
                    <a:solidFill>
                      <a:srgbClr val="E1F0FA"/>
                    </a:solidFill>
                  </a:tcPr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classical baseline_rsenet18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0.741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late_fusion_hybrid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0.841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quantum_gated_branch(zoom+rotate)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quantum_gated_branch(rotation)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Diabetiic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0.795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Diabetiic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quantum_gated_branch(rotation)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0.7244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Gated quantum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0.7302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Diabetes Health Indicators 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0.7487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Diabetes Health Indicators 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Gated quantum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2026-09-05T04:19:44.2990000Z</dcterms:created>
  <dcterms:modified xsi:type="dcterms:W3CDTF">2026-09-05T04:19:44.2990000Z</dcterms:modified>
</coreProperties>
</file>