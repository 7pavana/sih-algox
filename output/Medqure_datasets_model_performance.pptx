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ea52977be34431" /><Relationship Type="http://schemas.openxmlformats.org/officeDocument/2006/relationships/extended-properties" Target="/docProps/app.xml" Id="R56059832a0a74b4c" /><Relationship Type="http://schemas.openxmlformats.org/officeDocument/2006/relationships/officeDocument" Target="/ppt/presentation.xml" Id="Rf024218c7a704b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ec2bac5c3a48ad"/>
  </p:sldMasterIdLst>
  <p:notesMasterIdLst>
    <p:notesMasterId xmlns:r="http://schemas.openxmlformats.org/officeDocument/2006/relationships" r:id="R289a2aadc12c4497"/>
  </p:notesMasterIdLst>
  <p:sldIdLst>
    <p:sldId xmlns:r="http://schemas.openxmlformats.org/officeDocument/2006/relationships" id="256" r:id="R6ec3c55f51d14cf0"/>
    <p:sldId xmlns:r="http://schemas.openxmlformats.org/officeDocument/2006/relationships" id="257" r:id="R2b94778aefef4469"/>
    <p:sldId xmlns:r="http://schemas.openxmlformats.org/officeDocument/2006/relationships" id="258" r:id="R86a5871694d64796"/>
    <p:sldId xmlns:r="http://schemas.openxmlformats.org/officeDocument/2006/relationships" id="259" r:id="Rc1c4f5a948a34ae6"/>
    <p:sldId xmlns:r="http://schemas.openxmlformats.org/officeDocument/2006/relationships" id="260" r:id="Rf75b087f04ab425d"/>
    <p:sldId xmlns:r="http://schemas.openxmlformats.org/officeDocument/2006/relationships" id="261" r:id="R1541192fa1c045fe"/>
    <p:sldId xmlns:r="http://schemas.openxmlformats.org/officeDocument/2006/relationships" id="262" r:id="R9b839b0b4e6d4b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24db9c6eee4eb9" /><Relationship Type="http://schemas.openxmlformats.org/officeDocument/2006/relationships/slideMaster" Target="/ppt/slideMasters/slideMaster1.xml" Id="Rc9ec2bac5c3a48ad" /><Relationship Type="http://schemas.openxmlformats.org/officeDocument/2006/relationships/notesMaster" Target="/ppt/notesMasters/notesMaster1.xml" Id="R289a2aadc12c4497" /><Relationship Type="http://schemas.openxmlformats.org/officeDocument/2006/relationships/presProps" Target="/ppt/presProps.xml" Id="R4ff9b35f19d54fcf" /><Relationship Type="http://schemas.openxmlformats.org/officeDocument/2006/relationships/viewProps" Target="/ppt/viewProps.xml" Id="R0897e124c56b496e" /><Relationship Type="http://schemas.openxmlformats.org/officeDocument/2006/relationships/tableStyles" Target="/ppt/tableStyles.xml" Id="R382dda46bd044736" /><Relationship Type="http://schemas.openxmlformats.org/officeDocument/2006/relationships/slide" Target="/ppt/slides/slide1.xml" Id="R6ec3c55f51d14cf0" /><Relationship Type="http://schemas.openxmlformats.org/officeDocument/2006/relationships/slide" Target="/ppt/slides/slide2.xml" Id="R2b94778aefef4469" /><Relationship Type="http://schemas.openxmlformats.org/officeDocument/2006/relationships/slide" Target="/ppt/slides/slide3.xml" Id="R86a5871694d64796" /><Relationship Type="http://schemas.openxmlformats.org/officeDocument/2006/relationships/slide" Target="/ppt/slides/slide4.xml" Id="Rc1c4f5a948a34ae6" /><Relationship Type="http://schemas.openxmlformats.org/officeDocument/2006/relationships/slide" Target="/ppt/slides/slide5.xml" Id="Rf75b087f04ab425d" /><Relationship Type="http://schemas.openxmlformats.org/officeDocument/2006/relationships/slide" Target="/ppt/slides/slide6.xml" Id="R1541192fa1c045fe" /><Relationship Type="http://schemas.openxmlformats.org/officeDocument/2006/relationships/slide" Target="/ppt/slides/slide7.xml" Id="R9b839b0b4e6d4b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cc43667d6446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af9d5ab3b5423c" /><Relationship Type="http://schemas.openxmlformats.org/officeDocument/2006/relationships/notesMaster" Target="/ppt/notesMasters/notesMaster1.xml" Id="R50de4f6ded9e49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2694abbd474ccc" /><Relationship Type="http://schemas.openxmlformats.org/officeDocument/2006/relationships/notesMaster" Target="/ppt/notesMasters/notesMaster1.xml" Id="Rd761cdacbd894b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615bab16544901" /><Relationship Type="http://schemas.openxmlformats.org/officeDocument/2006/relationships/notesMaster" Target="/ppt/notesMasters/notesMaster1.xml" Id="R64878db55cc649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6bed98873a4450" /><Relationship Type="http://schemas.openxmlformats.org/officeDocument/2006/relationships/notesMaster" Target="/ppt/notesMasters/notesMaster1.xml" Id="R60cf991afb1743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4c3b240f984a6f" /><Relationship Type="http://schemas.openxmlformats.org/officeDocument/2006/relationships/notesMaster" Target="/ppt/notesMasters/notesMaster1.xml" Id="Rf4a6107d4b8e47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6243a76b784b27" /><Relationship Type="http://schemas.openxmlformats.org/officeDocument/2006/relationships/notesMaster" Target="/ppt/notesMasters/notesMaster1.xml" Id="R71e9e743c2e642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16f25ab1b34b5a" /><Relationship Type="http://schemas.openxmlformats.org/officeDocument/2006/relationships/notesMaster" Target="/ppt/notesMasters/notesMaster1.xml" Id="R63b7e1e9218141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Performance values transcribed exactly from Final - Sheet1.pdf.</a:t>
            </a:r>
          </a:p>
          <a:p xmlns:a="http://schemas.openxmlformats.org/drawingml/2006/main">
            <a:r>
              <a:t>Dataset source links: Skin Cancer https://www.kaggle.com/datasets/farjanakabirsamanta/skin-cancer-dataset | Diabetic Retinopathy https://www.kaggle.com/datasets/sovitrath/diabetic-retinopathy-224x224-gaussian-filtered/data | Diabetes Health Indicators https://www.kaggle.com/datasets/alexteboul/diabetes-health-indicators-dataset | Cardiovascular Disease https://www.kaggle.com/datasets/sulianova/cardiovascular-disease-dataset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b6762913c84a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6fbf5b55114cc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eaef0566543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c35e1f48934d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a0856823504f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c08d42a45f442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02c0c0213a4e5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f7ebf875cc479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e9ee6584cc430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95077f985436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010577b173476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268608-C60E-47D5-A9EA-4FE7B01FF4E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0E7FEF8-8ECF-447D-BF8A-3D04A7E8C4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FD24084-5597-4A94-83BB-6D874AED20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BDB9738-9B7C-4D8F-882C-5030276511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7A8C02D-9184-4A6F-934D-0C64DA1E49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51C4790-62A2-47B3-A256-2C7B5DF934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2A5FA8-5285-4CAA-AB3E-ADE9188A93E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4129DAE-07EC-4DDF-8917-B56C82981D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CC8E0D0-0991-4DAA-B293-5DF9D46CA5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F9F1AAF-3AD3-44F1-A716-98AC173F93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E6ACF5-B50B-4531-B30C-03EDF157E2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750C9D-AFEC-43C4-A99D-CD5638AC2A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52DC43-27C3-47AE-ABBD-FB14C75E93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5193ECA-33D5-4863-AD4E-C89E6D45AB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86F18C-6739-478C-A0DC-B52EF77F2D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AE4D0CD-8952-4BF9-9D1F-71596F6EB6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E1A271-5F32-4933-8DFD-31060175720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C35E9B8-F53D-4977-B085-44CBF990ED4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09AB565-D95C-4A9B-AE93-3B5204F547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9/5/2026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13664D-6D18-4F21-AB37-D6C9853D9A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FE0EFBE-4C14-4501-A7D9-351E479BEC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FEF9210-CFE7-46FF-AF0B-8A475E72CC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0641DFE-CBE0-4204-9DA0-4212C2B9C4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4FE6FD5-29D4-4F52-8179-EC0E30BE969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32CA22C-5DBD-4E16-A8BE-99FC0AEB133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843A3B7-D9E7-4916-B5A6-483B1AE05C6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88AB50-EBC0-46DB-9CFF-6F3EE5C31E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9/5/2026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60BB8C0-18B8-4ECE-A85C-C3E3DD5E79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1EC9FE-7C51-4894-973D-D26A3C4956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480C52-42CD-4E36-89A0-F9211EB4B3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6641F1-2D8C-4967-9569-0CFB6543B5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9/5/2026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47B0F52-CF1F-47F3-8A94-AB75C55ABC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9260C3D-CD51-4B81-98F2-77B5964FBB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939E5AC-D128-4C26-A7E1-6A1BA678E0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9/5/2026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EAE85C7-AA98-4435-8882-D45AC35857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53388FD-1B06-4EAC-87A1-61F1CC9754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7B4BBB-E048-4DA9-83F9-EBDFEAF7D4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EF962AB-0066-4646-811A-989D933CE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C200115-6967-41E4-8A00-FA4E40F86F0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0A4EDA2-50C6-45C7-9BFF-9483D959F7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9/5/2026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C863AC2-6DD3-48F8-A1D2-1407942E29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446E14-B295-4B82-969D-3F58A4A185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216398-8492-457D-A9F7-53938E4F93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CC0C403-7EBB-4877-A3A4-353B0107F03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4B6C541-DF9F-40F6-9BE7-34CD364B06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302A538-A224-486A-9698-5A169DB96B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9/5/2026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ADDAF1-908E-4A5F-A58A-4D5CACD944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8FA14A-AA59-4343-85C6-5C9C938137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07ABB0-A266-4C42-862E-EC61EFC087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EB41493-63CA-499E-A196-166B1B4BFC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0D634A0-1DCA-48D8-B8DD-8865700370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BE03090-B235-418B-8179-237D68AAD0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744135A-ADF9-43ED-B54A-6D2618ECC3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2917760-0C2C-4A0D-9490-F6D7A56617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DAEBB31-B811-49B8-86C1-742D2E5611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70B235D-A2A4-4134-984A-1B706D3D9F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019FE6-908D-4081-BF92-659AD7F290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1997EB-6097-476E-ABA6-05177F9944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20a29fa2154366" /><Relationship Type="http://schemas.openxmlformats.org/officeDocument/2006/relationships/slideLayout" Target="/ppt/slideLayouts/slideLayout1.xml" Id="R3bbb70b398c143f3" /><Relationship Type="http://schemas.openxmlformats.org/officeDocument/2006/relationships/slideLayout" Target="/ppt/slideLayouts/slideLayout2.xml" Id="R0acb89f8c3084ec8" /><Relationship Type="http://schemas.openxmlformats.org/officeDocument/2006/relationships/slideLayout" Target="/ppt/slideLayouts/slideLayout3.xml" Id="Ra64adc6e216042e7" /><Relationship Type="http://schemas.openxmlformats.org/officeDocument/2006/relationships/slideLayout" Target="/ppt/slideLayouts/slideLayout4.xml" Id="Rf46d09edd08d4165" /><Relationship Type="http://schemas.openxmlformats.org/officeDocument/2006/relationships/slideLayout" Target="/ppt/slideLayouts/slideLayout5.xml" Id="Re9c3e89037e9418c" /><Relationship Type="http://schemas.openxmlformats.org/officeDocument/2006/relationships/slideLayout" Target="/ppt/slideLayouts/slideLayout6.xml" Id="Rdaf662fd69674ca8" /><Relationship Type="http://schemas.openxmlformats.org/officeDocument/2006/relationships/slideLayout" Target="/ppt/slideLayouts/slideLayout7.xml" Id="Rf36d6ddc3c21488c" /><Relationship Type="http://schemas.openxmlformats.org/officeDocument/2006/relationships/slideLayout" Target="/ppt/slideLayouts/slideLayout8.xml" Id="R088f1c229cd74ba3" /><Relationship Type="http://schemas.openxmlformats.org/officeDocument/2006/relationships/slideLayout" Target="/ppt/slideLayouts/slideLayout9.xml" Id="Rca163d3e96dc4e0c" /><Relationship Type="http://schemas.openxmlformats.org/officeDocument/2006/relationships/slideLayout" Target="/ppt/slideLayouts/slideLayout10.xml" Id="Rdc8d9cb3dad7459b" /><Relationship Type="http://schemas.openxmlformats.org/officeDocument/2006/relationships/slideLayout" Target="/ppt/slideLayouts/slideLayout11.xml" Id="R526c3877a7874eb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4A3441C-60E9-4743-BD68-2390CABE9A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CCF5A14-B543-4616-84C9-37FA2463F9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DF69E02-B030-42A5-8109-89A99E040A7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9/5/2026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D5824C-C7BA-4B22-AB5F-7E3C67EE163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9424B4-9030-4FBD-A6BB-A929D8EC0C4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bb70b398c143f3"/>
    <p:sldLayoutId xmlns:r="http://schemas.openxmlformats.org/officeDocument/2006/relationships" id="2147483650" r:id="R0acb89f8c3084ec8"/>
    <p:sldLayoutId xmlns:r="http://schemas.openxmlformats.org/officeDocument/2006/relationships" id="2147483651" r:id="Ra64adc6e216042e7"/>
    <p:sldLayoutId xmlns:r="http://schemas.openxmlformats.org/officeDocument/2006/relationships" id="2147483652" r:id="Rf46d09edd08d4165"/>
    <p:sldLayoutId xmlns:r="http://schemas.openxmlformats.org/officeDocument/2006/relationships" id="2147483653" r:id="Re9c3e89037e9418c"/>
    <p:sldLayoutId xmlns:r="http://schemas.openxmlformats.org/officeDocument/2006/relationships" id="2147483654" r:id="Rdaf662fd69674ca8"/>
    <p:sldLayoutId xmlns:r="http://schemas.openxmlformats.org/officeDocument/2006/relationships" id="2147483655" r:id="Rf36d6ddc3c21488c"/>
    <p:sldLayoutId xmlns:r="http://schemas.openxmlformats.org/officeDocument/2006/relationships" id="2147483656" r:id="R088f1c229cd74ba3"/>
    <p:sldLayoutId xmlns:r="http://schemas.openxmlformats.org/officeDocument/2006/relationships" id="2147483657" r:id="Rca163d3e96dc4e0c"/>
    <p:sldLayoutId xmlns:r="http://schemas.openxmlformats.org/officeDocument/2006/relationships" id="2147483658" r:id="Rdc8d9cb3dad7459b"/>
    <p:sldLayoutId xmlns:r="http://schemas.openxmlformats.org/officeDocument/2006/relationships" id="2147483659" r:id="R526c3877a7874ebe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565bc01b14ef4" /><Relationship Type="http://schemas.openxmlformats.org/officeDocument/2006/relationships/image" Target="/ppt/media/image.png" Id="Rd5401f35a566446d" /><Relationship Type="http://schemas.openxmlformats.org/officeDocument/2006/relationships/image" Target="/ppt/media/image2.png" Id="R4f38369e52104685" /><Relationship Type="http://schemas.openxmlformats.org/officeDocument/2006/relationships/notesSlide" Target="/ppt/notesSlides/notesSlide1.xml" Id="Rd38a019837284c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01b4cf68c24363" /><Relationship Type="http://schemas.openxmlformats.org/officeDocument/2006/relationships/image" Target="/ppt/media/image2.png" Id="R3df720e8c2ef4007" /><Relationship Type="http://schemas.openxmlformats.org/officeDocument/2006/relationships/image" Target="/ppt/media/image3.png" Id="Rc49a2b14a82341ac" /><Relationship Type="http://schemas.openxmlformats.org/officeDocument/2006/relationships/image" Target="/ppt/media/image4.png" Id="R6c515b2669454c96" /><Relationship Type="http://schemas.openxmlformats.org/officeDocument/2006/relationships/notesSlide" Target="/ppt/notesSlides/notesSlide2.xml" Id="Rd47de258d84f4c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ea857d1e874a12" /><Relationship Type="http://schemas.openxmlformats.org/officeDocument/2006/relationships/image" Target="/ppt/media/image2.png" Id="Rf36435c63331477a" /><Relationship Type="http://schemas.openxmlformats.org/officeDocument/2006/relationships/image" Target="/ppt/media/image3.png" Id="R418539b63eaf4db0" /><Relationship Type="http://schemas.openxmlformats.org/officeDocument/2006/relationships/image" Target="/ppt/media/image5.png" Id="Rb41f8c82465c490b" /><Relationship Type="http://schemas.openxmlformats.org/officeDocument/2006/relationships/notesSlide" Target="/ppt/notesSlides/notesSlide3.xml" Id="Rc1a79470988842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e8606ce32e4184" /><Relationship Type="http://schemas.openxmlformats.org/officeDocument/2006/relationships/image" Target="/ppt/media/image2.png" Id="R44d666882d2d4719" /><Relationship Type="http://schemas.openxmlformats.org/officeDocument/2006/relationships/image" Target="/ppt/media/image3.png" Id="R1473bd0a3f9c4119" /><Relationship Type="http://schemas.openxmlformats.org/officeDocument/2006/relationships/image" Target="/ppt/media/image6.png" Id="Rc2ad7b0e5ad54bfe" /><Relationship Type="http://schemas.openxmlformats.org/officeDocument/2006/relationships/notesSlide" Target="/ppt/notesSlides/notesSlide4.xml" Id="R449326ddaa0943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598ca08dd542b8" /><Relationship Type="http://schemas.openxmlformats.org/officeDocument/2006/relationships/image" Target="/ppt/media/image2.png" Id="R1f2fccd095e34614" /><Relationship Type="http://schemas.openxmlformats.org/officeDocument/2006/relationships/image" Target="/ppt/media/image3.png" Id="R732943f56b904bbf" /><Relationship Type="http://schemas.openxmlformats.org/officeDocument/2006/relationships/notesSlide" Target="/ppt/notesSlides/notesSlide5.xml" Id="Raeb7ff0a7ccd43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1eacc8b09c4de6" /><Relationship Type="http://schemas.openxmlformats.org/officeDocument/2006/relationships/image" Target="/ppt/media/image2.png" Id="R3377aa0b6ebb49f5" /><Relationship Type="http://schemas.openxmlformats.org/officeDocument/2006/relationships/image" Target="/ppt/media/image3.png" Id="R7c93610dcac64754" /><Relationship Type="http://schemas.openxmlformats.org/officeDocument/2006/relationships/hyperlink" Target="https://ieeexplore.ieee.org/stamp/stamp.jsp?arnumber=11039626" TargetMode="External" Id="R805cf5e6a57949a5" /><Relationship Type="http://schemas.openxmlformats.org/officeDocument/2006/relationships/hyperlink" Target="https://ieeexplore.ieee.org/stamp/stamp.jsp?arnumber=10613907" TargetMode="External" Id="R023ec98eca69483c" /><Relationship Type="http://schemas.openxmlformats.org/officeDocument/2006/relationships/hyperlink" Target="https://ieeexplore.ieee.org/stamp/stamp.jsp?arnumber=11155089" TargetMode="External" Id="R4cec3e8c595742be" /><Relationship Type="http://schemas.openxmlformats.org/officeDocument/2006/relationships/hyperlink" Target="https://arxiv.org/pdf/2302.04633" TargetMode="External" Id="R9051240acc7a4ab2" /><Relationship Type="http://schemas.openxmlformats.org/officeDocument/2006/relationships/hyperlink" Target="https://doi.org/10.56979/701/2024" TargetMode="External" Id="R6f4713878b8f4366" /><Relationship Type="http://schemas.openxmlformats.org/officeDocument/2006/relationships/notesSlide" Target="/ppt/notesSlides/notesSlide6.xml" Id="R899440ced5244e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38994041814f6e" /><Relationship Type="http://schemas.openxmlformats.org/officeDocument/2006/relationships/notesSlide" Target="/ppt/notesSlides/notesSlide7.xml" Id="R7e0ee81e45344f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2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5401f35a566446d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95A08739-626D-4506-8213-1DB37E89BA0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9964099" cy="1546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685DB6B-149F-4C84-87F8-A230F288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" y="1500"/>
            <a:ext cx="6410391" cy="67179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ID </a:t>
            </a:r>
            <a:r>
              <a:rPr sz="24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–  </a:t>
            </a:r>
            <a:r>
              <a:rPr sz="2400">
                <a:solidFill>
                  <a:schemeClr val="tx2"/>
                </a:solidFill>
              </a:rPr>
              <a:t>SIH26139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Title- </a:t>
            </a:r>
            <a:r>
              <a:rPr sz="2400">
                <a:solidFill>
                  <a:schemeClr val="tx2"/>
                </a:solidFill>
              </a:rPr>
              <a:t>Hybrid Quantum Machine Learning Platform for Early Disease Detection .</a:t>
            </a:r>
            <a:endParaRPr sz="24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Theme- </a:t>
            </a:r>
            <a:r>
              <a:rPr sz="2400">
                <a:solidFill>
                  <a:schemeClr val="tx2"/>
                </a:solidFill>
              </a:rPr>
              <a:t>HealthTech</a:t>
            </a:r>
            <a:endParaRPr sz="24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PS Category- </a:t>
            </a:r>
            <a:r>
              <a:rPr sz="2400">
                <a:solidFill>
                  <a:schemeClr val="tx2"/>
                </a:solidFill>
                <a:latin typeface="Arial"/>
                <a:ea typeface="Arial"/>
                <a:cs typeface="Arial"/>
              </a:rPr>
              <a:t>Software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 ID-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 Name- </a:t>
            </a:r>
            <a:r>
              <a:rPr sz="2400">
                <a:solidFill>
                  <a:schemeClr val="tx2"/>
                </a:solidFill>
                <a:latin typeface="Arial"/>
                <a:ea typeface="Arial"/>
                <a:cs typeface="Arial"/>
              </a:rPr>
              <a:t>AlgoX</a:t>
            </a:r>
            <a:endParaRPr sz="2400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5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8369e521046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94071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186E5B9-4B72-4325-9769-007437C9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4D08DE88-DEE0-4D41-A246-CDE60D60A5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589281"/>
            <a:ext cx="10317598" cy="457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000" b="1">
                <a:latin typeface="Times New Roman"/>
                <a:ea typeface="Times New Roman"/>
                <a:cs typeface="Times New Roman"/>
              </a:rPr>
              <a:t>MedQure</a:t>
            </a:r>
            <a:r>
              <a:rPr sz="4000" b="1">
                <a:latin typeface="Times New Roman"/>
                <a:ea typeface="Times New Roman"/>
                <a:cs typeface="Times New Roman"/>
              </a:rPr>
              <a:t> Proposed Solution</a:t>
            </a:r>
            <a:br/>
            <a:endParaRPr sz="40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EDD9A72-0227-4DDB-BB47-96ADEE3CAA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28AF6222-E6D6-4906-89C6-64D08BF103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 Team </a:t>
            </a:r>
            <a:r>
              <a:rPr>
                <a:solidFill>
                  <a:schemeClr val="bg1"/>
                </a:solidFill>
              </a:rPr>
              <a:t>Algox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15369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720e8c2ef40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3" name="Rectangle: Rounded Corners 2">
            <a:extLst xmlns:a="http://schemas.openxmlformats.org/drawingml/2006/main">
              <a:ext uri="{FF2B5EF4-FFF2-40B4-BE49-F238E27FC236}">
                <a16:creationId xmlns:a16="http://schemas.microsoft.com/office/drawing/2014/main" id="{CF2C18E8-B4A4-9CB5-84A0-D6D4F4F1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998" y="771522"/>
            <a:ext cx="5341502" cy="5583239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</a:rPr>
              <a:t>Innovation and Uniqueness</a:t>
            </a: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•</a:t>
            </a:r>
            <a:r>
              <a:rPr b="1">
                <a:solidFill>
                  <a:schemeClr val="tx1"/>
                </a:solidFill>
              </a:rPr>
              <a:t> Hybrid Quantum-Classical AI</a:t>
            </a:r>
            <a:r>
              <a:rPr>
                <a:solidFill>
                  <a:schemeClr val="tx1"/>
                </a:solidFill>
              </a:rPr>
              <a:t>: Combines classical preprocessing with Quantum Machine Learning for practical early disease detection.</a:t>
            </a:r>
          </a:p>
          <a:p xmlns:a="http://schemas.openxmlformats.org/drawingml/2006/main"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rPr b="1">
                <a:solidFill>
                  <a:schemeClr val="tx1"/>
                </a:solidFill>
              </a:rPr>
              <a:t>• Adaptive Feature Reduction</a:t>
            </a:r>
            <a:r>
              <a:rPr>
                <a:solidFill>
                  <a:schemeClr val="tx1"/>
                </a:solidFill>
              </a:rPr>
              <a:t>: Reduces high-dimensional biomedical data before quantum encoding to work within limited qubit availability.</a:t>
            </a:r>
          </a:p>
          <a:p xmlns:a="http://schemas.openxmlformats.org/drawingml/2006/main"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• </a:t>
            </a:r>
            <a:r>
              <a:rPr b="1">
                <a:solidFill>
                  <a:schemeClr val="tx1"/>
                </a:solidFill>
              </a:rPr>
              <a:t>Quantum-Classical Benchmarking: </a:t>
            </a:r>
            <a:r>
              <a:rPr>
                <a:solidFill>
                  <a:schemeClr val="tx1"/>
                </a:solidFill>
              </a:rPr>
              <a:t>Compares quantum and classical models using the same processed dataset and evaluation metrics.</a:t>
            </a:r>
          </a:p>
          <a:p xmlns:a="http://schemas.openxmlformats.org/drawingml/2006/main"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• </a:t>
            </a:r>
            <a:r>
              <a:rPr b="1">
                <a:solidFill>
                  <a:schemeClr val="tx1"/>
                </a:solidFill>
              </a:rPr>
              <a:t>Explainable Prediction: </a:t>
            </a:r>
            <a:r>
              <a:rPr>
                <a:solidFill>
                  <a:schemeClr val="tx1"/>
                </a:solidFill>
              </a:rPr>
              <a:t>Provides prediction confidence and feature-level insights to make model outputs easier to understand.</a:t>
            </a:r>
          </a:p>
          <a:p xmlns:a="http://schemas.openxmlformats.org/drawingml/2006/main">
            <a:endParaRPr>
              <a:solidFill>
                <a:schemeClr val="tx1"/>
              </a:solidFill>
            </a:endParaRPr>
          </a:p>
          <a:p xmlns:a="http://schemas.openxmlformats.org/drawingml/2006/main">
            <a:r>
              <a:rPr>
                <a:solidFill>
                  <a:schemeClr val="tx1"/>
                </a:solidFill>
              </a:rPr>
              <a:t>• </a:t>
            </a:r>
            <a:r>
              <a:rPr b="1">
                <a:solidFill>
                  <a:schemeClr val="tx1"/>
                </a:solidFill>
              </a:rPr>
              <a:t>Hardware-Ready Architecture: </a:t>
            </a:r>
            <a:r>
              <a:rPr>
                <a:solidFill>
                  <a:schemeClr val="tx1"/>
                </a:solidFill>
              </a:rPr>
              <a:t>Supports quantum simulators during development and can be extended to near-term quantum hardware.</a:t>
            </a:r>
          </a:p>
        </p:txBody>
      </p:sp>
      <p:pic>
        <p:nvPicPr>
          <p:cNvPr id="1537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a2b14a82341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000" y="-2"/>
            <a:ext cx="901860" cy="771525"/>
          </a:xfrm>
          <a:prstGeom xmlns:a="http://schemas.openxmlformats.org/drawingml/2006/main" prst="rect">
            <a:avLst/>
          </a:prstGeom>
        </p:spPr>
      </p:pic>
      <p:pic>
        <p:nvPicPr>
          <p:cNvPr id="15372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15b2669454c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07498" y="1063837"/>
            <a:ext cx="6178339" cy="52351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9000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30C04C8C-E621-4E34-B5DE-398C5A7DFF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7E1920-8D90-4EEB-A4F4-B8E067B146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7588BEA-AA58-46B1-B8FD-BB7F95D6B5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Team </a:t>
            </a:r>
            <a:r>
              <a:rPr>
                <a:solidFill>
                  <a:schemeClr val="bg1"/>
                </a:solidFill>
              </a:rPr>
              <a:t>AlgoX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1741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435c6333147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946313"/>
          </a:xfrm>
          <a:prstGeom xmlns:a="http://schemas.openxmlformats.org/drawingml/2006/main" prst="rect">
            <a:avLst/>
          </a:prstGeom>
        </p:spPr>
      </p:pic>
      <p:pic>
        <p:nvPicPr>
          <p:cNvPr id="17418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539b63eaf4d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000" y="-2"/>
            <a:ext cx="901860" cy="771525"/>
          </a:xfrm>
          <a:prstGeom xmlns:a="http://schemas.openxmlformats.org/drawingml/2006/main" prst="rect">
            <a:avLst/>
          </a:prstGeom>
        </p:spPr>
      </p:pic>
      <p:pic>
        <p:nvPicPr>
          <p:cNvPr id="1741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f8c82465c49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064" y="996938"/>
            <a:ext cx="11867872" cy="53578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1411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255203F5-9B93-4748-A533-BD34EA3A2B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D30CBAF-150C-435F-9438-E20603D53F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89A3C099-558C-47E5-A620-89DB843F37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</a:t>
            </a:r>
            <a:r>
              <a:rPr>
                <a:solidFill>
                  <a:prstClr val="white"/>
                </a:solidFill>
              </a:rPr>
              <a:t>eam</a:t>
            </a:r>
            <a:r>
              <a:rPr>
                <a:solidFill>
                  <a:prstClr val="white"/>
                </a:solidFill>
              </a:rPr>
              <a:t> </a:t>
            </a:r>
            <a:r>
              <a:rPr>
                <a:solidFill>
                  <a:prstClr val="white"/>
                </a:solidFill>
              </a:rPr>
              <a:t>AlgoX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17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666882d2d47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pic>
        <p:nvPicPr>
          <p:cNvPr id="1741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3bd0a3f9c41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000" y="-2"/>
            <a:ext cx="901860" cy="771525"/>
          </a:xfrm>
          <a:prstGeom xmlns:a="http://schemas.openxmlformats.org/drawingml/2006/main" prst="rect">
            <a:avLst/>
          </a:prstGeom>
        </p:spPr>
      </p:pic>
      <p:pic>
        <p:nvPicPr>
          <p:cNvPr id="1741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d7b0e5ad54b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095375"/>
            <a:ext cx="12192000" cy="52278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58D499C7-5A4B-40E4-ABBF-F9D4A32DB0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26099F-DDC9-494B-894C-A1D2D944CE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94C9D421-CB8F-4B28-94FA-CF893DB8ED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Team </a:t>
            </a: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AlgoX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1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fccd095e346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pic>
        <p:nvPicPr>
          <p:cNvPr id="1741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943f56b904b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000" y="-2"/>
            <a:ext cx="901860" cy="771525"/>
          </a:xfrm>
          <a:prstGeom xmlns:a="http://schemas.openxmlformats.org/drawingml/2006/main" prst="rect">
            <a:avLst/>
          </a:prstGeom>
        </p:spPr>
      </p:pic>
      <p:sp>
        <p:nvSpPr>
          <p:cNvPr id="3" name="Rectangle: Rounded Corners 2">
            <a:extLst xmlns:a="http://schemas.openxmlformats.org/drawingml/2006/main">
              <a:ext uri="{FF2B5EF4-FFF2-40B4-BE49-F238E27FC236}">
                <a16:creationId xmlns:a16="http://schemas.microsoft.com/office/drawing/2014/main" id="{7F21D715-CE6C-B2A2-68B3-C2ECA7CB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3837"/>
            <a:ext cx="5394464" cy="515440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600">
                <a:solidFill>
                  <a:schemeClr val="tx1"/>
                </a:solidFill>
              </a:rPr>
              <a:t>• </a:t>
            </a:r>
            <a:r>
              <a:rPr sz="1600" b="1">
                <a:solidFill>
                  <a:schemeClr val="tx1"/>
                </a:solidFill>
              </a:rPr>
              <a:t>Early Disease Detection </a:t>
            </a:r>
            <a:r>
              <a:rPr sz="1600">
                <a:solidFill>
                  <a:schemeClr val="tx1"/>
                </a:solidFill>
              </a:rPr>
              <a:t>– Supports identification of potential disease risks at an earlier stage, enabling timely clinical attention and follow-up.</a:t>
            </a:r>
          </a:p>
          <a:p xmlns:a="http://schemas.openxmlformats.org/drawingml/2006/main">
            <a:endParaRPr sz="1600">
              <a:solidFill>
                <a:schemeClr val="tx1"/>
              </a:solidFill>
            </a:endParaRPr>
          </a:p>
          <a:p xmlns:a="http://schemas.openxmlformats.org/drawingml/2006/main">
            <a:r>
              <a:rPr sz="1600">
                <a:solidFill>
                  <a:schemeClr val="tx1"/>
                </a:solidFill>
              </a:rPr>
              <a:t>• </a:t>
            </a:r>
            <a:r>
              <a:rPr sz="1600" b="1">
                <a:solidFill>
                  <a:schemeClr val="tx1"/>
                </a:solidFill>
              </a:rPr>
              <a:t>Improved Diagnostic Support </a:t>
            </a:r>
            <a:r>
              <a:rPr sz="1600">
                <a:solidFill>
                  <a:schemeClr val="tx1"/>
                </a:solidFill>
              </a:rPr>
              <a:t>– Provides AI-assisted predictions that can help healthcare professionals analyze complex biomedical data more efficiently.</a:t>
            </a:r>
          </a:p>
          <a:p xmlns:a="http://schemas.openxmlformats.org/drawingml/2006/main">
            <a:endParaRPr sz="1600">
              <a:solidFill>
                <a:schemeClr val="tx1"/>
              </a:solidFill>
            </a:endParaRPr>
          </a:p>
          <a:p xmlns:a="http://schemas.openxmlformats.org/drawingml/2006/main">
            <a:r>
              <a:rPr sz="1600">
                <a:solidFill>
                  <a:schemeClr val="tx1"/>
                </a:solidFill>
              </a:rPr>
              <a:t>• </a:t>
            </a:r>
            <a:r>
              <a:rPr sz="1600" b="1">
                <a:solidFill>
                  <a:schemeClr val="tx1"/>
                </a:solidFill>
              </a:rPr>
              <a:t>Explainable Predictions </a:t>
            </a:r>
            <a:r>
              <a:rPr sz="1600">
                <a:solidFill>
                  <a:schemeClr val="tx1"/>
                </a:solidFill>
              </a:rPr>
              <a:t>– Shows confidence scores and important features behind predictions, improving transparency and user trust.</a:t>
            </a:r>
          </a:p>
          <a:p xmlns:a="http://schemas.openxmlformats.org/drawingml/2006/main">
            <a:endParaRPr sz="1600">
              <a:solidFill>
                <a:schemeClr val="tx1"/>
              </a:solidFill>
            </a:endParaRPr>
          </a:p>
          <a:p xmlns:a="http://schemas.openxmlformats.org/drawingml/2006/main">
            <a:r>
              <a:rPr sz="1600">
                <a:solidFill>
                  <a:schemeClr val="tx1"/>
                </a:solidFill>
              </a:rPr>
              <a:t>• </a:t>
            </a:r>
            <a:r>
              <a:rPr sz="1600" b="1">
                <a:solidFill>
                  <a:schemeClr val="tx1"/>
                </a:solidFill>
              </a:rPr>
              <a:t>Research Advancement </a:t>
            </a:r>
            <a:r>
              <a:rPr sz="1600">
                <a:solidFill>
                  <a:schemeClr val="tx1"/>
                </a:solidFill>
              </a:rPr>
              <a:t>– Provides researchers with a platform to experiment with and benchmark Quantum Machine Learning on biomedical datasets.</a:t>
            </a:r>
          </a:p>
          <a:p xmlns:a="http://schemas.openxmlformats.org/drawingml/2006/main">
            <a:endParaRPr sz="1600">
              <a:solidFill>
                <a:schemeClr val="tx1"/>
              </a:solidFill>
            </a:endParaRPr>
          </a:p>
          <a:p xmlns:a="http://schemas.openxmlformats.org/drawingml/2006/main">
            <a:r>
              <a:rPr sz="1600">
                <a:solidFill>
                  <a:schemeClr val="tx1"/>
                </a:solidFill>
              </a:rPr>
              <a:t>• </a:t>
            </a:r>
            <a:r>
              <a:rPr sz="1600" b="1">
                <a:solidFill>
                  <a:schemeClr val="tx1"/>
                </a:solidFill>
              </a:rPr>
              <a:t>Data-Driven Healthcare </a:t>
            </a:r>
            <a:r>
              <a:rPr sz="1600">
                <a:solidFill>
                  <a:schemeClr val="tx1"/>
                </a:solidFill>
              </a:rPr>
              <a:t>– Enables visualization of prediction results, model performance and comparative insights through an interactive dashboard.</a:t>
            </a:r>
          </a:p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8B9A7DD4-CB06-92D2-BC54-3B09C71F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464" y="1063837"/>
            <a:ext cx="5415400" cy="515440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10000"/>
                </a:solidFill>
              </a:rPr>
              <a:t>• Hybrid &amp; Practical </a:t>
            </a:r>
            <a:r>
              <a:rPr sz="1600">
                <a:solidFill>
                  <a:srgbClr val="010000"/>
                </a:solidFill>
              </a:rPr>
              <a:t>– Combines classical ML with Quantum ML, making the solution usable with current quantum simulators and adaptable to near-term quantum hardware.</a:t>
            </a:r>
          </a:p>
          <a:p xmlns:a="http://schemas.openxmlformats.org/drawingml/2006/main">
            <a:endParaRPr sz="1600">
              <a:solidFill>
                <a:srgbClr val="010000"/>
              </a:solidFill>
            </a:endParaRPr>
          </a:p>
          <a:p xmlns:a="http://schemas.openxmlformats.org/drawingml/2006/main">
            <a:r>
              <a:rPr sz="1600" b="1">
                <a:solidFill>
                  <a:srgbClr val="010000"/>
                </a:solidFill>
              </a:rPr>
              <a:t>• Handles Complex Data </a:t>
            </a:r>
            <a:r>
              <a:rPr sz="1600">
                <a:solidFill>
                  <a:srgbClr val="010000"/>
                </a:solidFill>
              </a:rPr>
              <a:t>– Uses preprocessing, feature selection and dimensionality reduction to manage high-dimensional biomedical datasets efficiently.</a:t>
            </a:r>
          </a:p>
          <a:p xmlns:a="http://schemas.openxmlformats.org/drawingml/2006/main">
            <a:endParaRPr sz="1600" b="1">
              <a:solidFill>
                <a:srgbClr val="010000"/>
              </a:solidFill>
            </a:endParaRPr>
          </a:p>
          <a:p xmlns:a="http://schemas.openxmlformats.org/drawingml/2006/main">
            <a:r>
              <a:rPr sz="1600" b="1">
                <a:solidFill>
                  <a:srgbClr val="010000"/>
                </a:solidFill>
              </a:rPr>
              <a:t>• Quantum-Classical Comparison </a:t>
            </a:r>
            <a:r>
              <a:rPr sz="1600">
                <a:solidFill>
                  <a:srgbClr val="010000"/>
                </a:solidFill>
              </a:rPr>
              <a:t>– Provides direct benchmarking of classical and quantum models using common evaluation metrics.</a:t>
            </a:r>
          </a:p>
          <a:p xmlns:a="http://schemas.openxmlformats.org/drawingml/2006/main">
            <a:endParaRPr sz="1600">
              <a:solidFill>
                <a:srgbClr val="010000"/>
              </a:solidFill>
            </a:endParaRPr>
          </a:p>
          <a:p xmlns:a="http://schemas.openxmlformats.org/drawingml/2006/main">
            <a:r>
              <a:rPr sz="1600" b="1">
                <a:solidFill>
                  <a:srgbClr val="010000"/>
                </a:solidFill>
              </a:rPr>
              <a:t>• Transparent &amp; Trustworthy </a:t>
            </a:r>
            <a:r>
              <a:rPr sz="1600">
                <a:solidFill>
                  <a:srgbClr val="010000"/>
                </a:solidFill>
              </a:rPr>
              <a:t>– Provides explainability, confidence scores and feature-level insights instead of only presenting a final prediction.</a:t>
            </a:r>
          </a:p>
          <a:p xmlns:a="http://schemas.openxmlformats.org/drawingml/2006/main">
            <a:endParaRPr sz="1600">
              <a:solidFill>
                <a:srgbClr val="010000"/>
              </a:solidFill>
            </a:endParaRPr>
          </a:p>
          <a:p xmlns:a="http://schemas.openxmlformats.org/drawingml/2006/main">
            <a:r>
              <a:rPr sz="1600" b="1">
                <a:solidFill>
                  <a:srgbClr val="010000"/>
                </a:solidFill>
              </a:rPr>
              <a:t>• Scalable Research Platform </a:t>
            </a:r>
            <a:r>
              <a:rPr sz="1600">
                <a:solidFill>
                  <a:srgbClr val="010000"/>
                </a:solidFill>
              </a:rPr>
              <a:t>– Supports multiple biomedical datasets, ML/QML algorithms and future integration.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C082C375-6029-491A-B077-E03A3525F4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 AND REFERENCES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0F6994E-8DD0-43D4-81DB-256099BF11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7CBB5DF-C9FA-4492-A581-C4922B9356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</a:t>
            </a:r>
            <a:r>
              <a:rPr>
                <a:solidFill>
                  <a:prstClr val="white"/>
                </a:solidFill>
              </a:rPr>
              <a:t>Team </a:t>
            </a:r>
            <a:r>
              <a:rPr>
                <a:solidFill>
                  <a:prstClr val="white"/>
                </a:solidFill>
              </a:rPr>
              <a:t>AlgoX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pic>
        <p:nvPicPr>
          <p:cNvPr id="17416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7aa0b6ebb49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pic>
        <p:nvPicPr>
          <p:cNvPr id="1741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3610dcac647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000" y="-2"/>
            <a:ext cx="901860" cy="771525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82D7630-CA94-28AD-69E7-4959CE3C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64" y="949537"/>
            <a:ext cx="11846936" cy="526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tx2"/>
            </a:solidFill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600" b="1">
                <a:solidFill>
                  <a:schemeClr val="tx2"/>
                </a:solidFill>
              </a:rPr>
              <a:t>Field &amp; Applied Research</a:t>
            </a:r>
          </a:p>
          <a:p xmlns:a="http://schemas.openxmlformats.org/drawingml/2006/main">
            <a:pPr>
              <a:buNone/>
            </a:pPr>
            <a:r>
              <a:rPr sz="1600"/>
              <a:t>• Studied </a:t>
            </a:r>
            <a:r>
              <a:rPr sz="1600" b="1"/>
              <a:t>Quantum Machine Learning (QML)</a:t>
            </a:r>
            <a:r>
              <a:rPr sz="1600"/>
              <a:t> approaches for healthcare and disease detection using medical and biomedical datasets.</a:t>
            </a:r>
          </a:p>
          <a:p xmlns:a="http://schemas.openxmlformats.org/drawingml/2006/main">
            <a:pPr>
              <a:buNone/>
            </a:pPr>
            <a:r>
              <a:rPr sz="1600"/>
              <a:t>• Reviewed </a:t>
            </a:r>
            <a:r>
              <a:rPr sz="1600" b="1"/>
              <a:t>hybrid quantum-classical models, quantum transfer learning, CNN-based diagnosis, feature extraction and classification techniques</a:t>
            </a:r>
            <a:r>
              <a:rPr sz="1600"/>
              <a:t> relevant to early disease detection.</a:t>
            </a:r>
          </a:p>
          <a:p xmlns:a="http://schemas.openxmlformats.org/drawingml/2006/main">
            <a:pPr>
              <a:buNone/>
            </a:pPr>
            <a:endParaRPr sz="1600"/>
          </a:p>
          <a:p xmlns:a="http://schemas.openxmlformats.org/drawingml/2006/main">
            <a:pPr>
              <a:buNone/>
            </a:pPr>
            <a:r>
              <a:rPr sz="1600" b="1">
                <a:solidFill>
                  <a:schemeClr val="tx2"/>
                </a:solidFill>
              </a:rPr>
              <a:t>Academic &amp; Research Sources</a:t>
            </a:r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IEEE Reference Paper 1</a:t>
            </a:r>
            <a:r>
              <a:rPr sz="1600" b="1"/>
              <a:t>:</a:t>
            </a:r>
            <a:r>
              <a:rPr sz="1600"/>
              <a:t> </a:t>
            </a:r>
            <a:r>
              <a:rPr sz="1600" i="1"/>
              <a:t>A Hybrid Quantum-Classical Approach for Multi-Class Skin Disease Classification Using a 4-Qubit Model</a:t>
            </a:r>
            <a:r>
              <a:rPr sz="1600"/>
              <a:t> – Proposes a hybrid quantum-classical framework using a 4-qubit quantum system to classify multiple skin diseases.</a:t>
            </a:r>
            <a:br/>
            <a:r>
              <a:rPr sz="1600">
                <a:hlinkClick xmlns:r="http://schemas.openxmlformats.org/officeDocument/2006/relationships" r:id="R805cf5e6a57949a5"/>
              </a:rPr>
              <a:t>https://ieeexplore.ieee.org/stamp/stamp.jsp?arnumber=11039626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IEEE Reference Paper 2:</a:t>
            </a:r>
            <a:r>
              <a:rPr sz="1600">
                <a:solidFill>
                  <a:schemeClr val="tx2"/>
                </a:solidFill>
              </a:rPr>
              <a:t> </a:t>
            </a:r>
            <a:r>
              <a:rPr sz="1600" i="1"/>
              <a:t>Exploring Quantum Machine Learning for Enhanced Skin Lesion Classification: A Comparative Study of Implementation Methods</a:t>
            </a:r>
            <a:r>
              <a:rPr sz="1600"/>
              <a:t> – Compares different QML implementation approaches for skin-lesion classification.</a:t>
            </a:r>
            <a:br/>
            <a:r>
              <a:rPr sz="1600">
                <a:hlinkClick xmlns:r="http://schemas.openxmlformats.org/officeDocument/2006/relationships" r:id="R023ec98eca69483c"/>
              </a:rPr>
              <a:t>https://ieeexplore.ieee.org/stamp/stamp.jsp?arnumber=10613907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IEEE Reference Paper 3</a:t>
            </a:r>
            <a:r>
              <a:rPr sz="1600" b="1"/>
              <a:t>:</a:t>
            </a:r>
            <a:r>
              <a:rPr sz="1600"/>
              <a:t> </a:t>
            </a:r>
            <a:r>
              <a:rPr sz="1600" i="1"/>
              <a:t>Optimized DenseNet121 and Quantum PennyLane Fusion for Explainable Skin Disease Recognition and Classification</a:t>
            </a:r>
            <a:r>
              <a:rPr sz="1600"/>
              <a:t> – Integrates DenseNet121 with quantum PennyLane for explainable skin disease recognition and classification.</a:t>
            </a:r>
            <a:br/>
            <a:r>
              <a:rPr sz="1600">
                <a:hlinkClick xmlns:r="http://schemas.openxmlformats.org/officeDocument/2006/relationships" r:id="R4cec3e8c595742be"/>
              </a:rPr>
              <a:t>https://ieeexplore.ieee.org/stamp/stamp.jsp?arnumber=11155089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Histopathological Cancer Detection Using Hybrid Quantum Computing</a:t>
            </a:r>
            <a:r>
              <a:rPr sz="1600">
                <a:solidFill>
                  <a:schemeClr val="tx2"/>
                </a:solidFill>
              </a:rPr>
              <a:t> </a:t>
            </a:r>
            <a:r>
              <a:rPr sz="1600"/>
              <a:t>– Reek Majumdar, </a:t>
            </a:r>
            <a:r>
              <a:rPr sz="1600"/>
              <a:t>Biswaraj</a:t>
            </a:r>
            <a:r>
              <a:rPr sz="1600"/>
              <a:t> Baral, Bhavika </a:t>
            </a:r>
            <a:r>
              <a:rPr sz="1600"/>
              <a:t>Bhalgamiya</a:t>
            </a:r>
            <a:r>
              <a:rPr sz="1600"/>
              <a:t> and Taposh Dutta Roy; studies hybrid quantum-classical learning and quantum transfer learning for cancer detection.</a:t>
            </a:r>
            <a:br/>
            <a:r>
              <a:rPr sz="1600">
                <a:hlinkClick xmlns:r="http://schemas.openxmlformats.org/officeDocument/2006/relationships" r:id="R9051240acc7a4ab2"/>
              </a:rPr>
              <a:t>https://arxiv.org/pdf/2302.04633</a:t>
            </a:r>
            <a:endParaRPr sz="1600"/>
          </a:p>
          <a:p xmlns:a="http://schemas.openxmlformats.org/drawingml/2006/main">
            <a:pPr>
              <a:buNone/>
            </a:pPr>
            <a:r>
              <a:rPr sz="1600">
                <a:solidFill>
                  <a:schemeClr val="tx2"/>
                </a:solidFill>
              </a:rPr>
              <a:t>• </a:t>
            </a:r>
            <a:r>
              <a:rPr sz="1600" b="1">
                <a:solidFill>
                  <a:schemeClr val="tx2"/>
                </a:solidFill>
              </a:rPr>
              <a:t>Enhanced Skin Disease Diagnosis through Convolutional Neural Networks and Data Augmentation Techniques</a:t>
            </a:r>
            <a:r>
              <a:rPr sz="1600">
                <a:solidFill>
                  <a:schemeClr val="tx2"/>
                </a:solidFill>
              </a:rPr>
              <a:t> </a:t>
            </a:r>
            <a:r>
              <a:rPr sz="1600"/>
              <a:t>– </a:t>
            </a:r>
            <a:r>
              <a:rPr sz="1600"/>
              <a:t>Muddasar</a:t>
            </a:r>
            <a:r>
              <a:rPr sz="1600"/>
              <a:t> Abbas et al.; evaluates CNN, DenseNet-121 and ResNet-50 models using the HAM10000 dataset for skin disease classification.</a:t>
            </a:r>
            <a:br/>
            <a:r>
              <a:rPr sz="1600">
                <a:hlinkClick xmlns:r="http://schemas.openxmlformats.org/officeDocument/2006/relationships" r:id="R6f4713878b8f4366"/>
              </a:rPr>
              <a:t>https://doi.org/10.56979/701/2024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EE480C52-42CD-4E36-89A0-F9211EB4B3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DATASETS &amp; MODEL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E276C-28F8-46B8-BD18-7E05E523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239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Datasets Used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266700" y="1181100"/>
          <a:ext xmlns:a="http://schemas.openxmlformats.org/drawingml/2006/main" cx="11658600" cy="12573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48000"/>
                <a:gridCol w="8610600"/>
              </a:tblGrid>
              <a:tr h="251460">
                <a:tc>
                  <a:txBody>
                    <a:bodyPr/>
                    <a:lstStyle/>
                    <a:p>
                      <a:r>
                        <a:t>Dataset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 marL="91440" marR="91440" marT="45720" marB="45720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t>Skin Cancer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Image dataset – 7 classes – ~10K images</a:t>
                      </a:r>
                    </a:p>
                  </a:txBody>
                  <a:tcPr marL="91440" marR="91440" marT="45720" marB="45720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t>Diabetic Retinopathy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Image dataset – 5 classes – retinal images</a:t>
                      </a:r>
                    </a:p>
                  </a:txBody>
                  <a:tcPr marL="91440" marR="91440" marT="45720" marB="45720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t>Diabetes Health Indicators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Tabular dataset – 253,680 rows × 22 columns – diabetes classification</a:t>
                      </a:r>
                    </a:p>
                  </a:txBody>
                  <a:tcPr marL="91440" marR="91440" marT="45720" marB="45720"/>
                </a:tc>
              </a:tr>
              <a:tr h="251460">
                <a:tc>
                  <a:txBody>
                    <a:bodyPr/>
                    <a:lstStyle/>
                    <a:p>
                      <a:r>
                        <a:t>Cardiovascular Disease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Tabular dataset – 70,000 rows × 13 columns – cardiovascular classification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0CC02-B5CD-494B-898C-8D1E5BC2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28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4E7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E79"/>
                </a:solidFill>
                <a:latin typeface="Calibri"/>
                <a:ea typeface="Calibri"/>
                <a:cs typeface="Calibri"/>
              </a:rPr>
              <a:t>Model Performance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71450" y="2905125"/>
          <a:ext xmlns:a="http://schemas.openxmlformats.org/drawingml/2006/main" cx="11849100" cy="33147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4524375"/>
                <a:gridCol w="1209675"/>
                <a:gridCol w="1209675"/>
                <a:gridCol w="1209675"/>
                <a:gridCol w="1219200"/>
              </a:tblGrid>
              <a:tr h="236696">
                <a:tc>
                  <a:txBody>
                    <a:bodyPr/>
                    <a:lstStyle/>
                    <a:p>
                      <a:r>
                        <a:t>Dataset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F1-score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Recall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Skin Cancer-8qub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Resnet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0.82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0.82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0.81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0.82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Skin Cancer-4qub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Resnet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0.834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0.834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 b="1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Skin Cancer-2qub</a:t>
                      </a:r>
                    </a:p>
                  </a:txBody>
                  <a:tcPr marL="91440" marR="91440" marT="45720" marB="45720">
                    <a:solidFill>
                      <a:srgbClr val="E1F0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 b="1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ConvNext_TIney_V2</a:t>
                      </a:r>
                    </a:p>
                  </a:txBody>
                  <a:tcPr marL="91440" marR="91440" marT="45720" marB="45720">
                    <a:solidFill>
                      <a:srgbClr val="E1F0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 b="1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0.8831</a:t>
                      </a:r>
                    </a:p>
                  </a:txBody>
                  <a:tcPr marL="91440" marR="91440" marT="45720" marB="45720">
                    <a:solidFill>
                      <a:srgbClr val="E1F0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 b="1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0.8791</a:t>
                      </a:r>
                    </a:p>
                  </a:txBody>
                  <a:tcPr marL="91440" marR="91440" marT="45720" marB="45720">
                    <a:solidFill>
                      <a:srgbClr val="E1F0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 b="1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0.8799</a:t>
                      </a:r>
                    </a:p>
                  </a:txBody>
                  <a:tcPr marL="91440" marR="91440" marT="45720" marB="45720">
                    <a:solidFill>
                      <a:srgbClr val="E1F0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 b="1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0.8831</a:t>
                      </a:r>
                    </a:p>
                  </a:txBody>
                  <a:tcPr marL="91440" marR="91440" marT="45720" marB="45720">
                    <a:solidFill>
                      <a:srgbClr val="E1F0FA"/>
                    </a:solidFill>
                  </a:tcPr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Skin Cancer-2qub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classical baseline_rsenet18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0.84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0.751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0.77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0.741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Skin Cancer-2qub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late_fusion_hybrid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0.833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0.841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Skin Cancer-2qub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quantum_gated_branch(zoom+rotate)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0.847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0.845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0.847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Skin Cancer-2qub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quantum_gated_branch(rotation)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0.86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0.858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0.86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Diabetiic Retinopathy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0.795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Diabetiic Retinopathy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quantum_gated_branch(rotation)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0.797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0.807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CardioVascular Disease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0.7244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0.7243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0.7248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0.7244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CardioVascular Disease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Gated quantum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0.7302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0.7302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0.7303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0.7302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Diabetes Health Indicators Dataset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0.7487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0.7484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0.7499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0.7487</a:t>
                      </a:r>
                    </a:p>
                  </a:txBody>
                  <a:tcPr marL="91440" marR="91440" marT="45720" marB="45720"/>
                </a:tc>
              </a:tr>
              <a:tr h="236696">
                <a:tc>
                  <a:txBody>
                    <a:bodyPr/>
                    <a:lstStyle/>
                    <a:p>
                      <a:r>
                        <a:t>Diabetes Health Indicators Dataset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Gated quantum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0.749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0.7485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0.7508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863">
                          <a:solidFill>
                            <a:srgbClr val="111111"/>
                          </a:solidFill>
                          <a:latin typeface="Calibri"/>
                          <a:ea typeface="Calibri"/>
                          <a:cs typeface="Calibri"/>
                        </a:rPr>
                        <a:t>0.749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28620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2026-09-05T04:17:03.4090000Z</dcterms:created>
  <dcterms:modified xsi:type="dcterms:W3CDTF">2026-09-05T04:17:03.4090000Z</dcterms:modified>
</coreProperties>
</file>