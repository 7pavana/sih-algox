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c0a0860ef54897" /><Relationship Type="http://schemas.openxmlformats.org/officeDocument/2006/relationships/extended-properties" Target="/docProps/app.xml" Id="R429aa3f9f9744c2f" /><Relationship Type="http://schemas.openxmlformats.org/officeDocument/2006/relationships/officeDocument" Target="/ppt/presentation.xml" Id="R8aa2579d874544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dcacd6c6fa4154"/>
  </p:sldMasterIdLst>
  <p:notesMasterIdLst>
    <p:notesMasterId xmlns:r="http://schemas.openxmlformats.org/officeDocument/2006/relationships" r:id="R2b7bc38f6a3541b2"/>
  </p:notesMasterIdLst>
  <p:sldIdLst>
    <p:sldId xmlns:r="http://schemas.openxmlformats.org/officeDocument/2006/relationships" id="256" r:id="R1ed5d5c65b25494d"/>
    <p:sldId xmlns:r="http://schemas.openxmlformats.org/officeDocument/2006/relationships" id="257" r:id="R25175e829aa44557"/>
    <p:sldId xmlns:r="http://schemas.openxmlformats.org/officeDocument/2006/relationships" id="258" r:id="R177dd5e4ee8d4698"/>
    <p:sldId xmlns:r="http://schemas.openxmlformats.org/officeDocument/2006/relationships" id="259" r:id="Rc8ce8b6a55864cf1"/>
    <p:sldId xmlns:r="http://schemas.openxmlformats.org/officeDocument/2006/relationships" id="260" r:id="Rc8fdba8771cd453c"/>
    <p:sldId xmlns:r="http://schemas.openxmlformats.org/officeDocument/2006/relationships" id="261" r:id="Rdc628a3d8ef84b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f12db80ff54c01" /><Relationship Type="http://schemas.openxmlformats.org/officeDocument/2006/relationships/slideMaster" Target="/ppt/slideMasters/slideMaster1.xml" Id="Rbcdcacd6c6fa4154" /><Relationship Type="http://schemas.openxmlformats.org/officeDocument/2006/relationships/notesMaster" Target="/ppt/notesMasters/notesMaster1.xml" Id="R2b7bc38f6a3541b2" /><Relationship Type="http://schemas.openxmlformats.org/officeDocument/2006/relationships/presProps" Target="/ppt/presProps.xml" Id="R76d0fc73028f437e" /><Relationship Type="http://schemas.openxmlformats.org/officeDocument/2006/relationships/tableStyles" Target="/ppt/tableStyles.xml" Id="R01606a931fbd4baa" /><Relationship Type="http://schemas.openxmlformats.org/officeDocument/2006/relationships/slide" Target="/ppt/slides/slide1.xml" Id="R1ed5d5c65b25494d" /><Relationship Type="http://schemas.openxmlformats.org/officeDocument/2006/relationships/slide" Target="/ppt/slides/slide2.xml" Id="R25175e829aa44557" /><Relationship Type="http://schemas.openxmlformats.org/officeDocument/2006/relationships/slide" Target="/ppt/slides/slide3.xml" Id="R177dd5e4ee8d4698" /><Relationship Type="http://schemas.openxmlformats.org/officeDocument/2006/relationships/slide" Target="/ppt/slides/slide4.xml" Id="Rc8ce8b6a55864cf1" /><Relationship Type="http://schemas.openxmlformats.org/officeDocument/2006/relationships/slide" Target="/ppt/slides/slide5.xml" Id="Rc8fdba8771cd453c" /><Relationship Type="http://schemas.openxmlformats.org/officeDocument/2006/relationships/slide" Target="/ppt/slides/slide6.xml" Id="Rdc628a3d8ef84b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407275224842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faa897246a4767" /><Relationship Type="http://schemas.openxmlformats.org/officeDocument/2006/relationships/notesMaster" Target="/ppt/notesMasters/notesMaster1.xml" Id="R520ff11924c345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fb359b09f74e18" /><Relationship Type="http://schemas.openxmlformats.org/officeDocument/2006/relationships/notesMaster" Target="/ppt/notesMasters/notesMaster1.xml" Id="Rd3c21a5ec3874b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b7c31069f34a58" /><Relationship Type="http://schemas.openxmlformats.org/officeDocument/2006/relationships/notesMaster" Target="/ppt/notesMasters/notesMaster1.xml" Id="Rbfc51e2070ac4b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f6418b717d4fdb" /><Relationship Type="http://schemas.openxmlformats.org/officeDocument/2006/relationships/notesMaster" Target="/ppt/notesMasters/notesMaster1.xml" Id="R21f956e7a7ec46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1ebf0788184735" /><Relationship Type="http://schemas.openxmlformats.org/officeDocument/2006/relationships/notesMaster" Target="/ppt/notesMasters/notesMaster1.xml" Id="R550a5f39c25a46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3f1c718e254e5c" /><Relationship Type="http://schemas.openxmlformats.org/officeDocument/2006/relationships/notesMaster" Target="/ppt/notesMasters/notesMaster1.xml" Id="R461df06311d443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SIH26139 problem statement; https://github.com/7pavana/SIH-AlgoX (README and repository tree, accessed 2026-09-27). Slide 1 uses only repository-supported implementation claims. UI screenshot source: public/images/doctor-ananya-demo.png.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SIH26139 problem statement; https://github.com/7pavana/SIH-AlgoX (README and repository tree, accessed 2026-09-27). Slide 2 uses only repository-supported implementation claims. UI screenshot source: public/images/doctor-ananya-demo.png.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SIH26139 problem statement; https://github.com/7pavana/SIH-AlgoX (README and repository tree, accessed 2026-09-27). Slide 3 uses only repository-supported implementation claims. UI screenshot source: public/images/doctor-ananya-demo.png.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SIH26139 problem statement; https://github.com/7pavana/SIH-AlgoX (README and repository tree, accessed 2026-09-27). Slide 4 uses only repository-supported implementation claims. UI screenshot source: public/images/doctor-ananya-demo.png.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SIH26139 problem statement; https://github.com/7pavana/SIH-AlgoX (README and repository tree, accessed 2026-09-27). Slide 5 uses only repository-supported implementation claims. UI screenshot source: public/images/doctor-ananya-demo.png.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SIH26139 problem statement; https://github.com/7pavana/SIH-AlgoX (README and repository tree, accessed 2026-09-27). Slide 6 uses only repository-supported implementation claims. UI screenshot source: public/images/doctor-ananya-demo.png.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c0da252f743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53cdb330184932" /><Relationship Type="http://schemas.openxmlformats.org/officeDocument/2006/relationships/slideLayout" Target="/ppt/slideLayouts/slideLayout1.xml" Id="Ra883d0dbaa3f4b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83d0dbaa3f4b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0186f5dbd40c5" /><Relationship Type="http://schemas.openxmlformats.org/officeDocument/2006/relationships/notesSlide" Target="/ppt/notesSlides/notesSlide1.xml" Id="Ra3b361fad1c24f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5f5ec6cc14d6e" /><Relationship Type="http://schemas.openxmlformats.org/officeDocument/2006/relationships/notesSlide" Target="/ppt/notesSlides/notesSlide2.xml" Id="R504b566382a643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64ee8b34b434c" /><Relationship Type="http://schemas.openxmlformats.org/officeDocument/2006/relationships/notesSlide" Target="/ppt/notesSlides/notesSlide3.xml" Id="Rdb402907659744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4d65d8ede4abb" /><Relationship Type="http://schemas.openxmlformats.org/officeDocument/2006/relationships/image" Target="/ppt/media/image.png" Id="Rda30902cd5034045" /><Relationship Type="http://schemas.openxmlformats.org/officeDocument/2006/relationships/notesSlide" Target="/ppt/notesSlides/notesSlide4.xml" Id="R56264bfb102645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51ed2e1ae4115" /><Relationship Type="http://schemas.openxmlformats.org/officeDocument/2006/relationships/notesSlide" Target="/ppt/notesSlides/notesSlide5.xml" Id="R6d59c54e1f1842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92d7bbd3647cb" /><Relationship Type="http://schemas.openxmlformats.org/officeDocument/2006/relationships/notesSlide" Target="/ppt/notesSlides/notesSlide6.xml" Id="R7f3aed7609104a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970C7E-B97F-43B6-ABFD-E22474A6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39112-6105-4FB7-8C74-31268A88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55615-A946-45ED-BED1-AE98CCE9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47625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BBF59-8E4A-4917-A255-3E8D4345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MEDQUBE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F1C18-DDAA-4851-BDE6-5FCDD8FF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EFFA"/>
                </a:solidFill>
                <a:latin typeface="Aptos"/>
                <a:ea typeface="Aptos"/>
                <a:cs typeface="Aptos"/>
              </a:rPr>
              <a:t>Hybrid Quantum × Clinical AI</a:t>
            </a:r>
          </a:p>
          <a:p xmlns:a="http://schemas.openxmlformats.org/drawingml/2006/main">
            <a:pPr>
              <a:defRPr sz="2025" b="1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EFFA"/>
                </a:solidFill>
                <a:latin typeface="Aptos"/>
                <a:ea typeface="Aptos"/>
                <a:cs typeface="Aptos"/>
              </a:rPr>
              <a:t>Screening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4D7A8-EE30-433C-8704-E78DDCE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Early disease screening across structured clinical data and medical 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8D04F-99B9-4628-90E3-4D7565A5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333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D02BA-E148-4919-BF0A-437419ED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C8C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C8C81"/>
                </a:solidFill>
                <a:latin typeface="Aptos"/>
                <a:ea typeface="Aptos"/>
                <a:cs typeface="Aptos"/>
              </a:rPr>
              <a:t>SIH26139  ·  HEALTH TECH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5C69E-778D-4BA1-8874-55B799BF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 AlgoX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3869C-D675-4E01-A6FC-C1AFADBA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7D2E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7D2E5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DC169-29D2-458F-B7E2-4577D2EF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04875"/>
            <a:ext cx="58102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332A0-670C-4C87-B62A-2BE7A7B2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2573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THE CLINICAL SCREENING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5F065-45BF-4E98-B13A-F1FC999A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190750"/>
            <a:ext cx="1066800" cy="13525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FBB48-E221-4842-BE8D-6FBB1D22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51FA0-595F-4B71-A42F-D9898CB5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9262A-EAE3-492E-A2DE-8FE8E071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337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6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Clinical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866B0-04D8-4AF2-B7EB-DD7ED217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62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41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Forms + images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1F8CA-1C30-48BC-AAC5-D6A7B9CC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6104B-D7CB-4536-AE11-4206800A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190750"/>
            <a:ext cx="1066800" cy="13525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0A2FD-D56B-4FC2-85DE-0C04852A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526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7B7DE-577F-4412-8DA3-D65DAB66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5F54B-31A9-4C33-B563-ED30CE5A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9337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396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Feature pathway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AEC36-7432-463F-8513-1EF229E3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362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26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Classical reduction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47FA9F-E47A-4ACE-A624-29315E67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437215-5042-40CE-9644-B96D6590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90750"/>
            <a:ext cx="1066800" cy="13525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4B94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B8CE04-041B-46BB-95FE-F0846D65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526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DDD334-4332-423E-9CA8-74D7F7DD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2262C-046D-4122-91DE-08ABB8C1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9337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41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Quantum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93F1A2-2C9D-4408-89C9-2B116B4E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362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2-qubit VQC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CCBA98-2CF6-4292-8E49-C59481C3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289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5A9791-5BA4-4E2E-89FE-EF50A198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190750"/>
            <a:ext cx="1066800" cy="13525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FAA01F-A6A7-4177-907A-4A19AD47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526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0DB24-EFDA-445B-A210-168824A7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38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7DF01D-B6D5-42C6-BC56-6A9F6868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9337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71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Screening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236842-715B-4AB0-8F35-AB1FF782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62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Risk +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7879A0-C8B6-40B2-959D-4B5C22D7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245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7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4747"/>
                </a:solidFill>
                <a:latin typeface="Aptos"/>
                <a:ea typeface="Aptos"/>
                <a:cs typeface="Aptos"/>
              </a:rPr>
              <a:t>Research prototype · decision support only · not for clinical diagnosis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880388-EAC8-42BE-A32C-E279B0B0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1980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E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6FB150-F087-49EC-AB17-E3D4A0B6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153150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Problem Statement: Hybrid Quantum Machine Learning Platform for Early Disease Detection</a:t>
            </a:r>
          </a:p>
        </p:txBody>
      </p:sp>
    </p:spTree>
    <p:extLst>
      <p:ext uri="{BB962C8B-B14F-4D97-AF65-F5344CB8AC3E}">
        <p14:creationId xmlns:p14="http://schemas.microsoft.com/office/powerpoint/2010/main" val="1537923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D56297-B51A-4C4A-AD68-DD387FC1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Clinical screening needs a practical hybrid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B516D-47BF-4BD5-B86C-E955EC27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2475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High-dimensional inputs meet limited near-term quantum resources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457BE-81DB-4920-9D91-62919A03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B9448-D2B0-45BC-A63B-DBE96D8E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9C3EA-B46B-4915-9E4A-DDB0D543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INDIA HACKATHON 2026  ·  TEAM ALGOX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301DC-7584-4BE3-B616-DFBAB283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MedQube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4C115-8A9B-4024-97ED-4EBAC550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3333750" cy="42100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A3B20-65B9-45B1-BDDF-49AF2A98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47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4747"/>
                </a:solidFill>
                <a:latin typeface="Aptos"/>
                <a:ea typeface="Aptos"/>
                <a:cs typeface="Aptos"/>
              </a:rPr>
              <a:t>THE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27051-A03A-4169-9AD6-21951909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Complex biomedical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89DA-0FFC-445C-8A93-3A147F56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9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Early screening can combine tabular clinical context with medical images. A usable system must keep the clinician in the loop and avoid sending high-dimensional inputs straight to a small quantum circuit.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CC445-886C-41F4-BEEB-0AE44D8B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657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2BD85-73D0-4796-9399-6838C087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67175"/>
            <a:ext cx="1657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747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4747"/>
                </a:solidFill>
                <a:latin typeface="Aptos"/>
                <a:ea typeface="Aptos"/>
                <a:cs typeface="Aptos"/>
              </a:rPr>
              <a:t>No diagnosis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B6CC4-3AB0-4DB7-9B79-A1B82836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0DB35-164D-43E8-AECA-8B88E88C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Prototype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373A0-8975-43DB-830B-DE11A276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257300"/>
            <a:ext cx="73914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66DB5-9C17-4F87-AFCD-19B8264D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62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MEDQUBE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1C7A2-6ABA-4493-BD29-234E97EC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240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Classical intelligence where it fits. Quantum gating where it is tractable.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397B6-776F-4092-96C8-2D1A5ECB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38450"/>
            <a:ext cx="1352550" cy="16002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5D4C1-5109-41CA-8F64-262DA942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71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DE160-9E38-40A1-8031-56D40A8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DF583-D478-4380-9CEB-1C246D4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099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D4EBE-049B-4C49-8E3C-DB2A9A2D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14750"/>
            <a:ext cx="108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Clinical form or image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4D323-80C6-45E1-A2E2-D77AC71E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67DC70-791D-400C-AAB5-68777D71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1352550" cy="16002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8667D-E445-4D3F-BFA6-823F20AA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195661-5738-4FD4-AC96-3908D3EB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38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5EFBA3-6E04-45B4-9D77-35578789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5A387-6D0D-4B27-B51D-A25174CC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108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Validate, normalize, reduce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F96C57-12FB-423E-80FA-E3BFD0FA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71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C12B8-6877-4415-A4D6-C0687448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1352550" cy="16002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328324-7595-452B-B88B-E8846B84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B62E06-8185-4AF7-AAF6-1E3A60D3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38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C47F74-52D9-4063-B102-EF1190B1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99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3C1F6D-14D7-412F-AE00-A15981A4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08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2-qubit variational circuit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46723E-C608-432F-8986-54D418F2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71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131E48-116B-4A0A-A193-26B651B1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38450"/>
            <a:ext cx="1352550" cy="16002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9CFAC1-EA34-44C1-8058-E114DE74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71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6096EE-4B20-4658-A1B5-C5E1B489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8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1AA506-6E13-4EAB-ADAD-8ACB42AD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099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748E66-C02E-4F41-B3BF-20045CE6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14750"/>
            <a:ext cx="1085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Risk view and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76D402-46D5-4F49-A405-E2DBE518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10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93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8C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8C81"/>
                </a:solidFill>
                <a:latin typeface="Aptos"/>
                <a:ea typeface="Aptos"/>
                <a:cs typeface="Aptos"/>
              </a:rPr>
              <a:t>Quantum component operates on compressed intermediate features, not raw medical records or full-resolution images.</a:t>
            </a:r>
          </a:p>
        </p:txBody>
      </p:sp>
    </p:spTree>
    <p:extLst>
      <p:ext uri="{BB962C8B-B14F-4D97-AF65-F5344CB8AC3E}">
        <p14:creationId xmlns:p14="http://schemas.microsoft.com/office/powerpoint/2010/main" val="2109174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CB0E0C-03BB-454F-8E9B-57D75962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Quantum-gated branch zooming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72398-A809-4E16-97E4-3A3768C7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2475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Implemented training notebook for the skin-image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605AD-DFFC-4D02-B14D-59BFDB0C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48483-78D8-4E64-B4A1-6A71A594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3777D-2318-427C-8B25-2974DFA2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INDIA HACKATHON 2026  ·  TEAM ALGOX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A0EB1-D774-4385-B5CF-C94DCAD4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MedQube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CD322-6795-4F4A-9413-E17E2091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436245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790DF-3231-4993-A1EA-501DABDC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IMAGE PATHWAY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AC033-0238-451A-982E-88189A97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295400" cy="1695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CB44B-9B6D-431D-A941-2BFD2918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B8046-2F56-44F7-A3AD-FE0AA035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6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5AC3D-250A-4F39-B2F5-C223996C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77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Dermoscopic image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D4D5D-B2BC-411D-A4B4-04455453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AE5A1-128C-4BB2-9EEF-388CCA66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8A563-5C2C-41A0-B471-68789F5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295400" cy="1695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A9543-68A2-47F6-8B64-F2FCEFE6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67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1F4F7-CCD8-45AB-9DA5-D34CA354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6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E4710F-118A-4D48-998E-07DFB7C6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385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4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ResNet18 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17034-6939-4B80-A712-D438DCB0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76650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Pretrained backbone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16BC8-1EEF-44CE-9CBE-C620ECBD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BCA39-641D-4355-98CE-109B2E56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76500"/>
            <a:ext cx="1295400" cy="1695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BC06B-2119-4BD4-9A31-DFAC45DB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67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B0D8D-36D5-4380-BBA7-42D71EEA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6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21691-7819-47A3-A2A4-73EB5BDC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Layer 3 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2441A8-9480-46E4-8FFB-42D8EF2A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76650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256 channels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0C32A-A7D5-4190-ACAA-21D27D09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8DB583-DBFC-479B-A7F3-2B50142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295400" cy="1695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4B94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EEE27A-9008-4E20-9083-A999B89B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304AEB-2D4F-4B12-BD23-4BCE0788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558D83-DF9A-4D1C-A950-914074E0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2-qubit VQC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41FD64-546A-4E3C-86A2-ACCF2305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2 layers</a:t>
            </a:r>
          </a:p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angle embedding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FCE1DD-9EC0-4698-A603-19B936C4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9B6765-326D-4557-A4AB-24D4D2FE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76500"/>
            <a:ext cx="1295400" cy="1695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699D56-56F4-4B01-B861-153105C0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67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46A8EE-88F8-4946-AEF1-5EB03615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6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509232-35AC-4605-A5E3-95DC870C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385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5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256-channel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5FA682-99CE-4249-BCE9-C0FB8C9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76650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Sigmoid weighting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00DA1C-9D1A-4965-8688-97ADC7C3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741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FA3C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FA3C4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001CAE-7134-4060-8888-DBAA7D77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95400" cy="16954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920A68-B753-4815-AB8F-8AFBDEF3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CC0DAF-01A6-40EB-B0A3-77AC8D21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6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138DE2-C8C8-48EC-A599-DA2AE001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385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7-class head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896C4-6F23-4EE0-BB36-1A7ED8F9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76650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AKIEC · BCC · BKL</a:t>
            </a:r>
          </a:p>
          <a:p xmlns:a="http://schemas.openxmlformats.org/drawingml/2006/main">
            <a:pPr>
              <a:defRPr sz="8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DF · MEL · NV · VASC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965F35-7696-4891-9224-125493D9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Training configuration in repository: 70/15/15 split, seed 42, batch size 32, learning rate 5e-5, up to 20 epochs.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1E74C5-71F3-4927-919F-9D4D7ECF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EC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802B70-E112-493F-BCF7-C23C0D9B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4747"/>
                </a:solidFill>
                <a:latin typeface="Aptos"/>
                <a:ea typeface="Aptos"/>
                <a:cs typeface="Aptos"/>
              </a:rPr>
              <a:t>Evidence boundary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C554E1-7A5F-4E28-99FE-71FBA010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67325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The notebook describes the architecture and training setup. No validated accuracy, sensitivity, or clinical performance metric is presented in this deck.</a:t>
            </a:r>
          </a:p>
        </p:txBody>
      </p:sp>
    </p:spTree>
    <p:extLst>
      <p:ext uri="{BB962C8B-B14F-4D97-AF65-F5344CB8AC3E}">
        <p14:creationId xmlns:p14="http://schemas.microsoft.com/office/powerpoint/2010/main" val="13654330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0A9CC9-4C20-43BF-AB63-654697C0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Working prototype: clinician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F4248-DEB5-439B-84B6-422AC6FF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2475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Real repository UI shown. Model inference remains simulated in the current frontend.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AD747-7E64-4C10-8AF6-FB215BA9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F29F1-EBA7-456F-8E3B-6E00F90E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26000-5EA5-4A50-81AE-DC1C7483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INDIA HACKATHON 2026  ·  TEAM ALGOX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013CB-D25F-43EE-9219-7CACE3C1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MedQube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82463-96F8-46E9-AD2A-7FB6277C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1247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0902cd5034045"/>
          <a:stretch xmlns:a="http://schemas.openxmlformats.org/drawingml/2006/main"/>
        </p:blipFill>
        <p:spPr>
          <a:xfrm xmlns:a="http://schemas.openxmlformats.org/drawingml/2006/main">
            <a:off x="1981200" y="1381125"/>
            <a:ext cx="4267200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5AE7C-5A06-4577-815B-CF7A877F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3676650" cy="46291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2F8F4-7645-4C95-AC59-ECB6266D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WHAT A JUDGE CAN SEE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2D8CA-9A24-473E-9F24-A36882AD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EA87F-8C3E-40DD-A9EE-B99F11D2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050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14276-4B91-44B4-B2FE-0E98C140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97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Select pathway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98B66-D1C6-4666-B7EB-24CD905D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Heart, diabetes, retinopathy, skin cancer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CE824-83E4-452C-BA12-C54814F9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908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A267F-8748-4E06-99EC-894E0DEA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6C0DA-F19D-4A49-924C-C737978A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Collect inputs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AD3E0-F871-40FF-9B94-E482DBE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Validated forms or image upload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1D0EB-5E6E-4EB2-AE2F-8C639AFE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BDA8C-6C6C-4991-8A90-E4786E3A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861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0437C-CD0A-4568-8035-8EAC6E60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909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Review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03AC2-4D5F-413F-8DAA-0104F312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952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Risk view, probabilities, key signals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B8886-2AF9-4EF1-8AA6-5C14F3C0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719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C1C38-14BF-41CC-836C-68B2E3E7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80C8F-CBA1-49F8-BFFA-5B55585A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Track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E69151-E15F-474A-8BDA-A62C2798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01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Patient sessions and screening history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94E994-813A-46A7-B4BC-98754D0A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86375"/>
            <a:ext cx="1409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CF4278-CAB6-4E46-9E1E-4FA29E7E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5305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C8C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C8C81"/>
                </a:solidFill>
                <a:latin typeface="Aptos"/>
                <a:ea typeface="Aptos"/>
                <a:cs typeface="Aptos"/>
              </a:rPr>
              <a:t>IMPLEMENTED UI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4468A-C45B-460D-98CF-FE28A7AA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86375"/>
            <a:ext cx="1562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0DE16E-A492-49E1-B909-244827BD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53050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747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74747"/>
                </a:solidFill>
                <a:latin typeface="Aptos"/>
                <a:ea typeface="Aptos"/>
                <a:cs typeface="Aptos"/>
              </a:rPr>
              <a:t>SIMULATED INFERENCE</a:t>
            </a:r>
          </a:p>
        </p:txBody>
      </p:sp>
    </p:spTree>
    <p:extLst>
      <p:ext uri="{BB962C8B-B14F-4D97-AF65-F5344CB8AC3E}">
        <p14:creationId xmlns:p14="http://schemas.microsoft.com/office/powerpoint/2010/main" val="2101751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CAEDA1-757E-490F-B10B-C746203A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Feasibility, safeguards, and maturity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69809-953B-4624-9758-46CC35BE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2475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A research prototype with a clear path to integration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08719-AAF7-4A1C-B7FE-D217B90B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C97FC-E6B2-44A7-ADBE-17EF6F2E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C9675-57A2-45AA-8876-41E555FF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INDIA HACKATHON 2026  ·  TEAM ALGOX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D74A2-B936-44BB-AD63-F85C1F67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MedQube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35C64-B48E-4658-82B7-801326C8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276600" cy="37528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EB868-E786-46E1-BF76-BADC5E9E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276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C8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D13A1-9A9D-4B70-97B1-F98DDD9B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FEB18-6948-40E1-86F6-93122196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C8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3EB96-772A-4E64-8021-1D13334D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764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Next.js clinical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5FA7B-AC20-48D4-A881-AED66AE3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C8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63771-9C10-489D-A51F-E3F79481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Four screening pathways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381A9-3C04-4A93-B946-D9516F0D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C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D68C7-DB0E-4280-9EE6-4C4CEF95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Patient and session 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74828-6992-4E26-B5AF-52F3EA6B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C8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FE80E-14CF-4F1F-A22A-623CB4B2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Training notebook for quantum-gated ResNet18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92AE6-DECC-4904-9604-6C311090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428750"/>
            <a:ext cx="3276600" cy="37528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AB9AE-C4BD-4543-AA75-6B6EDEBB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428750"/>
            <a:ext cx="3276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7B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0AA3F-0224-455A-9BC9-20151062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90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Prototype / in progress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525CA-9F47-497A-96D5-AEF87835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81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7B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0F6BD-DA2A-4EB5-AD9D-2F75D26C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764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Frontend uses deterministic simulated inference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ECFAA-1036-4EB7-8DB2-744EEBAC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2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7B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57B9F-C0E2-4BDF-B211-CBBCA714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194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Explainability placeholders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2BECF-0A1F-4921-AA0E-C3823810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67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7B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E27C9D-D431-43C0-8067-FFE7C474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623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Synthetic patient and session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438D55-8E4B-4998-82CD-58B6F145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10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7B0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9682CE-D07E-4256-AC41-FCEA970B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052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7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Quantum branch requires benchmark results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D01740-2758-4BA9-A3B7-E018D967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28750"/>
            <a:ext cx="3276600" cy="37528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0C124F-7078-48C4-A37C-DD33AEAB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28750"/>
            <a:ext cx="3276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114899-1BAE-4404-8CC6-ECBD53EE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Planned next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73040C-D257-4A68-A036-4870B696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61C11B-9001-4292-9020-DFBDC8F4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764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Backend model-serving 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3ABED8-BF03-4237-AEEE-94ECDC02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2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8CEABA-1DA5-4D42-BD6F-519AE055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194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.pth model integration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78873B-573B-4549-9C6E-8BAC0977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67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ADFEFB-CEB4-4009-863F-298B80F7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623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Grad-CAM / feature importance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B88BA6-78E8-4A98-983E-74433181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0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1A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765BDF-2031-4520-93EA-CC00A3D9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60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Dataset validation and clinical governance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A55E25-80BC-4DA1-926F-1191B128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0610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6BE1C3-301D-4D4F-B134-5F72E694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292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Safety position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CBEED1-9724-423E-A2EB-62F26CF0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292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9EFF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FFA"/>
                </a:solidFill>
                <a:latin typeface="Aptos"/>
                <a:ea typeface="Aptos"/>
                <a:cs typeface="Aptos"/>
              </a:rPr>
              <a:t>MedQube supports research screening demonstrations. It must not make autonomous diagnoses or replace clinician judgment.</a:t>
            </a:r>
          </a:p>
        </p:txBody>
      </p:sp>
    </p:spTree>
    <p:extLst>
      <p:ext uri="{BB962C8B-B14F-4D97-AF65-F5344CB8AC3E}">
        <p14:creationId xmlns:p14="http://schemas.microsoft.com/office/powerpoint/2010/main" val="3309095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E4D739-B398-450C-B2A2-D80911DD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MedQube: ready to demonstrate, ready to validate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80D2F-9E38-45E7-94EE-FD96EE9F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2475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Team AlgoX · SIH26139 · Health Tech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7C694-AC98-4EF0-965D-8BA9ACE5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D26E7-950A-47A0-9357-25BD1B8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50C1D-6F42-4EE1-93FD-02BBA607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INDIA HACKATHON 2026  ·  TEAM ALGOX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3F900-DC9D-4453-BE37-77E23374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987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MedQube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EEF16-325D-4D1B-9ED6-570F92AF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429125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C25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D7C29-7337-4074-AA14-2E2C88BE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DDFF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DDFF0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6A71A-0993-4FEB-BA17-51608B25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AA83F-FA1B-4724-88F6-63C9E8BD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F3E53-BBE7-4ABB-BC18-C495ED7E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621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 a disease pathway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53551-D666-4A18-9992-B0BDCF9B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E7AFD-6134-4F68-B791-FE72A2AF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DF810-C945-40C5-9344-C7AB0903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Enter clinical inputs or upload 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6C4EF-42FA-4391-8903-437EEB9F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32319-6FC8-4821-A956-6BBE1CDD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17631-2EE6-4DCE-B438-5A968C74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623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Inspect screening result and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D283F-F175-4CD4-B3B4-5EB46D3B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A3C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775F2-51C8-4EFF-BAB5-073BC5B4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C900E-3311-4706-976D-FDE8D506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patient session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C5897-D451-4DDB-98FC-0B2067AF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257300"/>
            <a:ext cx="2781300" cy="3924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FF7F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F9E7F-AA4F-42DA-A1DC-2A24E76E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81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IMPACT TO PROVE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17D24-D1F0-4A68-A9A0-4A832F8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24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A focused research question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B378A-F6B2-43F1-9D65-6ED0172D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66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2B3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2B3D"/>
                </a:solidFill>
                <a:latin typeface="Aptos"/>
                <a:ea typeface="Aptos"/>
                <a:cs typeface="Aptos"/>
              </a:rPr>
              <a:t>Can a compact variational circuit improve feature gating for medical-image screening when compared with a classical baseline?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13224-2D0C-4551-9DFB-48621DAD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481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F6F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4864D6-F6C5-4895-86D6-57D2B794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C8C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C8C81"/>
                </a:solidFill>
                <a:latin typeface="Aptos"/>
                <a:ea typeface="Aptos"/>
                <a:cs typeface="Aptos"/>
              </a:rPr>
              <a:t>Benchmark first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4B6433-06AC-4AF0-B105-CED80B35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14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2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Metrics needed: accuracy, sensitivity, specificity, F1, inference time, and calibration.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F853FB-DA68-43DE-81DC-8B41D07B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57300"/>
            <a:ext cx="3219450" cy="39243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AD15B-D686-48C3-9926-92318DE0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81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PROJECT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934BC7-C18B-4939-94F4-A59C6A67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38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GitHub repository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338B2F-6B7F-4E93-A3BA-4316971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261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61A0"/>
                </a:solidFill>
                <a:latin typeface="Aptos"/>
                <a:ea typeface="Aptos"/>
                <a:cs typeface="Aptos"/>
              </a:rPr>
              <a:t>github.com/7pavana/SIH-AlgoX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E07A6E-F6E7-4D97-916A-5D3D8BAC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43225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F7651F-9647-4F31-9F93-980E77C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718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46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67083"/>
                </a:solidFill>
                <a:latin typeface="Aptos"/>
                <a:ea typeface="Aptos"/>
                <a:cs typeface="Aptos"/>
              </a:rPr>
              <a:t>DEMO VIDEO</a:t>
            </a:r>
          </a:p>
          <a:p xmlns:a="http://schemas.openxmlformats.org/drawingml/2006/main">
            <a:pPr>
              <a:defRPr sz="1050" b="1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67083"/>
                </a:solidFill>
                <a:latin typeface="Aptos"/>
                <a:ea typeface="Aptos"/>
                <a:cs typeface="Aptos"/>
              </a:rPr>
              <a:t>QR PLACEHOLDER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D3004E-4A79-4037-B50C-FBF7FE48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005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Add the final video QR here before submission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FE12F9-8564-4D86-9D10-22487D7A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254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C2544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DDAA8C-C07C-4721-A542-9A2C2F58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7083"/>
                </a:solidFill>
                <a:latin typeface="Aptos"/>
                <a:ea typeface="Aptos"/>
                <a:cs typeface="Aptos"/>
              </a:rPr>
              <a:t>Built for transparent hybrid-QML research, not clinical diagnosis.</a:t>
            </a:r>
          </a:p>
        </p:txBody>
      </p:sp>
    </p:spTree>
    <p:extLst>
      <p:ext uri="{BB962C8B-B14F-4D97-AF65-F5344CB8AC3E}">
        <p14:creationId xmlns:p14="http://schemas.microsoft.com/office/powerpoint/2010/main" val="646228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2026-09-27T06:00:42.0770000Z</dcterms:created>
  <dcterms:modified xsi:type="dcterms:W3CDTF">2026-09-27T06:00:42.0770000Z</dcterms:modified>
</coreProperties>
</file>