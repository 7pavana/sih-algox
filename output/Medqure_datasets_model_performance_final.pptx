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6f950eda54195" /><Relationship Type="http://schemas.openxmlformats.org/officeDocument/2006/relationships/extended-properties" Target="/docProps/app.xml" Id="R629bb20be51444c9" /><Relationship Type="http://schemas.openxmlformats.org/officeDocument/2006/relationships/officeDocument" Target="/ppt/presentation.xml" Id="R3e494ab406a5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82c85382144b8"/>
  </p:sldMasterIdLst>
  <p:notesMasterIdLst>
    <p:notesMasterId xmlns:r="http://schemas.openxmlformats.org/officeDocument/2006/relationships" r:id="R4bd38d2a35f144ce"/>
  </p:notesMasterIdLst>
  <p:sldIdLst>
    <p:sldId xmlns:r="http://schemas.openxmlformats.org/officeDocument/2006/relationships" id="256" r:id="R498bbc3088e24b30"/>
    <p:sldId xmlns:r="http://schemas.openxmlformats.org/officeDocument/2006/relationships" id="257" r:id="R42b1ce2a9d5c4b8a"/>
    <p:sldId xmlns:r="http://schemas.openxmlformats.org/officeDocument/2006/relationships" id="258" r:id="R3e97cd653bda457c"/>
    <p:sldId xmlns:r="http://schemas.openxmlformats.org/officeDocument/2006/relationships" id="259" r:id="R679fe7a2d813459d"/>
    <p:sldId xmlns:r="http://schemas.openxmlformats.org/officeDocument/2006/relationships" id="260" r:id="R534195f9a94b481f"/>
    <p:sldId xmlns:r="http://schemas.openxmlformats.org/officeDocument/2006/relationships" id="261" r:id="Rda0cdd8192a04a99"/>
    <p:sldId xmlns:r="http://schemas.openxmlformats.org/officeDocument/2006/relationships" id="262" r:id="Rf7bb102c617c40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f1c62fac54e9d" /><Relationship Type="http://schemas.openxmlformats.org/officeDocument/2006/relationships/slideMaster" Target="/ppt/slideMasters/slideMaster1.xml" Id="R14482c85382144b8" /><Relationship Type="http://schemas.openxmlformats.org/officeDocument/2006/relationships/notesMaster" Target="/ppt/notesMasters/notesMaster1.xml" Id="R4bd38d2a35f144ce" /><Relationship Type="http://schemas.openxmlformats.org/officeDocument/2006/relationships/presProps" Target="/ppt/presProps.xml" Id="R498087f34a2445c5" /><Relationship Type="http://schemas.openxmlformats.org/officeDocument/2006/relationships/viewProps" Target="/ppt/viewProps.xml" Id="R24abf3b4308149d5" /><Relationship Type="http://schemas.openxmlformats.org/officeDocument/2006/relationships/tableStyles" Target="/ppt/tableStyles.xml" Id="R9fb3504a0b0c4d65" /><Relationship Type="http://schemas.openxmlformats.org/officeDocument/2006/relationships/slide" Target="/ppt/slides/slide1.xml" Id="R498bbc3088e24b30" /><Relationship Type="http://schemas.openxmlformats.org/officeDocument/2006/relationships/slide" Target="/ppt/slides/slide2.xml" Id="R42b1ce2a9d5c4b8a" /><Relationship Type="http://schemas.openxmlformats.org/officeDocument/2006/relationships/slide" Target="/ppt/slides/slide3.xml" Id="R3e97cd653bda457c" /><Relationship Type="http://schemas.openxmlformats.org/officeDocument/2006/relationships/slide" Target="/ppt/slides/slide4.xml" Id="R679fe7a2d813459d" /><Relationship Type="http://schemas.openxmlformats.org/officeDocument/2006/relationships/slide" Target="/ppt/slides/slide5.xml" Id="R534195f9a94b481f" /><Relationship Type="http://schemas.openxmlformats.org/officeDocument/2006/relationships/slide" Target="/ppt/slides/slide6.xml" Id="Rda0cdd8192a04a99" /><Relationship Type="http://schemas.openxmlformats.org/officeDocument/2006/relationships/slide" Target="/ppt/slides/slide7.xml" Id="Rf7bb102c617c40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38353ba124c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9b1f41b94400e" /><Relationship Type="http://schemas.openxmlformats.org/officeDocument/2006/relationships/notesMaster" Target="/ppt/notesMasters/notesMaster1.xml" Id="Rb8bb5661e23d4a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90483433c4520" /><Relationship Type="http://schemas.openxmlformats.org/officeDocument/2006/relationships/notesMaster" Target="/ppt/notesMasters/notesMaster1.xml" Id="Rfa3f640ece9b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0ab25b3594672" /><Relationship Type="http://schemas.openxmlformats.org/officeDocument/2006/relationships/notesMaster" Target="/ppt/notesMasters/notesMaster1.xml" Id="R2123cc674c87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a7cc3b8b0413d" /><Relationship Type="http://schemas.openxmlformats.org/officeDocument/2006/relationships/notesMaster" Target="/ppt/notesMasters/notesMaster1.xml" Id="R3e09fd8b7103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7c339c2e94d02" /><Relationship Type="http://schemas.openxmlformats.org/officeDocument/2006/relationships/notesMaster" Target="/ppt/notesMasters/notesMaster1.xml" Id="R8cd9e8926461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aa8ce010f46ad" /><Relationship Type="http://schemas.openxmlformats.org/officeDocument/2006/relationships/notesMaster" Target="/ppt/notesMasters/notesMaster1.xml" Id="Rf4d4b8b960dd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fd540a9f643b3" /><Relationship Type="http://schemas.openxmlformats.org/officeDocument/2006/relationships/notesMaster" Target="/ppt/notesMasters/notesMaster1.xml" Id="Rb7835842adc345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Performance values transcribed exactly from Final - Sheet1.pdf.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Dataset source links: Skin Cancer https://www.kaggle.com/datasets/farjanakabirsamanta/skin-cancer-dataset | Diabetic Retinopathy https://www.kaggle.com/datasets/sovitrath/diabetic-retinopathy-224x224-gaussian-filtered/data | Diabetes Health Indicators https://www.kaggle.com/datasets/alexteboul/diabetes-health-indicators-dataset | Cardiovascular Disease https://www.kaggle.com/datasets/sulianova/cardiovascular-disease-dataset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acb2e34564a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2ae22fc3447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0219410dc41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7f2fe4f7347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766705a194a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9b2c4909a4b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81f89e11f4cd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f039aac004b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b69ac78d942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910ab862145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54bc49064437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CB259-474D-4F19-9D4E-96815A631EF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AAFAED-2B18-45C6-850B-6654572C11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C33C32-9C40-4C07-B156-0B1B71DD70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4F61A3-9882-4827-A97E-7573C89F4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73248F-2CD8-4BFD-A0D4-0B5A85388F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32A728-C397-4B93-AA9F-E3D6DC3A4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BACCDA-054E-4915-8D9C-435F74DCA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A76A74-5A47-4D26-B01D-36FFB92928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94D5CA-5CC7-4106-88E5-A675787FF9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E46390-5302-41BA-8546-69BF1857F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F85731-9A91-433C-8A92-7B6EA5FB6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DC3DA9-113D-4C0B-B050-DB21318FD5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DDB6F8-897D-4B78-864E-4C0F35C8A5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DB0DDA-9E5D-4696-B7E2-10F2C9729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2088B4-4AF7-4FF5-AAA0-70B5E43CE6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B3FC3A-B982-449C-AD16-00327D3B8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45AFBF-8C7C-4C82-BD1B-55CB176217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1BB6D85-DDD0-4CBF-8811-684804B7D7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8E1AEE-98B3-41A0-93E8-193CA64D86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3285D8-8B65-4D1A-91DC-7297F3F8EA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0811D5-A307-4A31-A0BD-779F41A95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FA86BB-2D20-40F7-B3E1-EFA9DB088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7C9621-EDAF-498F-9686-4CE368122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62ECC2-7336-4377-A25F-D4DAC634A50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B72D44-860F-4662-9BA4-7A7E81BC08F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F7405C5-B517-4692-BDE0-F4AEF18049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C0F6B9-8D72-4A1D-9BD0-8EA7626FE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3D0645-BE11-43B2-ADA7-E1B154C7D7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94C058-6E83-430A-ABF3-1F1176BC0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57A37E-6ECD-473C-8126-D19747CD5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8F26D0-31DD-4290-8105-04ADB8B34C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CCFFC2-36B1-4B67-8077-AA143728F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CE97B-826B-423F-8247-DCA7314082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A8820C-ADB6-46DD-9F86-A072DEF305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020559-B196-4ABB-9497-55229203E5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D4379A-D251-4572-8BD1-AC54E41F99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FD61BC-D7EA-4188-814E-50257D005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16A16C-BC46-4CB1-9A8E-6609142D6C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E39DCDF-1F09-485E-8205-C6DB2FCD6A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FDA4C9-0F94-4A56-8708-651DDE34E7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8CBFE2-0814-484C-A859-9B6CAB60D1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19B85D-FDD8-45FB-97F3-C904CCBAF1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A33251-7C9B-4572-84A4-D6EAC9E94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133B8EA-E7C9-4FBF-B02E-F7BA5AAEE3C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8A554D-0F6A-456D-B090-621C5EFC94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D32B61-77B3-4A10-92B8-CF6EA7671A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148225-F8BB-4756-B6B7-B8407ADF65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AB9B0B-30A0-4156-BE80-CDF4DC817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891158-056D-4001-9193-C29E81B11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D542CB-08DA-4EE7-B0F9-53E11D965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545CD3-8488-4ACA-8A02-138D57583F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416ADD-2D27-407F-9CEC-BD1FFFBB07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A2883-8D5E-4DA6-896B-2380E7625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84E5267-21B0-46E5-805D-6B8B4BF42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E551A0-4479-4987-83B3-97D83ED6AF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A146E4-AD17-4F77-A8D6-72484DF731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A97821-1B24-4B7B-A505-93CD9F899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0F2E57-9D17-4AC8-976F-ED5BD644E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b40808eed408e" /><Relationship Type="http://schemas.openxmlformats.org/officeDocument/2006/relationships/slideLayout" Target="/ppt/slideLayouts/slideLayout1.xml" Id="R3aa99e9877df4a74" /><Relationship Type="http://schemas.openxmlformats.org/officeDocument/2006/relationships/slideLayout" Target="/ppt/slideLayouts/slideLayout2.xml" Id="R91ffe9909594478c" /><Relationship Type="http://schemas.openxmlformats.org/officeDocument/2006/relationships/slideLayout" Target="/ppt/slideLayouts/slideLayout3.xml" Id="R2bf22428fcfd4b7a" /><Relationship Type="http://schemas.openxmlformats.org/officeDocument/2006/relationships/slideLayout" Target="/ppt/slideLayouts/slideLayout4.xml" Id="Rb7d48ac7e8d84dbf" /><Relationship Type="http://schemas.openxmlformats.org/officeDocument/2006/relationships/slideLayout" Target="/ppt/slideLayouts/slideLayout5.xml" Id="Rc2cb6d03e9f24753" /><Relationship Type="http://schemas.openxmlformats.org/officeDocument/2006/relationships/slideLayout" Target="/ppt/slideLayouts/slideLayout6.xml" Id="Rd0822756e18f4885" /><Relationship Type="http://schemas.openxmlformats.org/officeDocument/2006/relationships/slideLayout" Target="/ppt/slideLayouts/slideLayout7.xml" Id="R4da82502b03e451d" /><Relationship Type="http://schemas.openxmlformats.org/officeDocument/2006/relationships/slideLayout" Target="/ppt/slideLayouts/slideLayout8.xml" Id="Rbdf4ec64c187439c" /><Relationship Type="http://schemas.openxmlformats.org/officeDocument/2006/relationships/slideLayout" Target="/ppt/slideLayouts/slideLayout9.xml" Id="R7effc318572b4fa7" /><Relationship Type="http://schemas.openxmlformats.org/officeDocument/2006/relationships/slideLayout" Target="/ppt/slideLayouts/slideLayout10.xml" Id="R0eae0b69a5f447f1" /><Relationship Type="http://schemas.openxmlformats.org/officeDocument/2006/relationships/slideLayout" Target="/ppt/slideLayouts/slideLayout11.xml" Id="R6ecea764e6d343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B89C4A-4E5A-4736-95B9-3320A27146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1D2DE9-B770-476F-B778-D298852C0A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CE7CE1-0242-4527-93EB-1A0B3ABADFA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B6DD38-67EF-4257-B9BF-8F416C3315C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D14845-51E3-4D5A-A4B1-17751F2A7E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99e9877df4a74"/>
    <p:sldLayoutId xmlns:r="http://schemas.openxmlformats.org/officeDocument/2006/relationships" id="2147483650" r:id="R91ffe9909594478c"/>
    <p:sldLayoutId xmlns:r="http://schemas.openxmlformats.org/officeDocument/2006/relationships" id="2147483651" r:id="R2bf22428fcfd4b7a"/>
    <p:sldLayoutId xmlns:r="http://schemas.openxmlformats.org/officeDocument/2006/relationships" id="2147483652" r:id="Rb7d48ac7e8d84dbf"/>
    <p:sldLayoutId xmlns:r="http://schemas.openxmlformats.org/officeDocument/2006/relationships" id="2147483653" r:id="Rc2cb6d03e9f24753"/>
    <p:sldLayoutId xmlns:r="http://schemas.openxmlformats.org/officeDocument/2006/relationships" id="2147483654" r:id="Rd0822756e18f4885"/>
    <p:sldLayoutId xmlns:r="http://schemas.openxmlformats.org/officeDocument/2006/relationships" id="2147483655" r:id="R4da82502b03e451d"/>
    <p:sldLayoutId xmlns:r="http://schemas.openxmlformats.org/officeDocument/2006/relationships" id="2147483656" r:id="Rbdf4ec64c187439c"/>
    <p:sldLayoutId xmlns:r="http://schemas.openxmlformats.org/officeDocument/2006/relationships" id="2147483657" r:id="R7effc318572b4fa7"/>
    <p:sldLayoutId xmlns:r="http://schemas.openxmlformats.org/officeDocument/2006/relationships" id="2147483658" r:id="R0eae0b69a5f447f1"/>
    <p:sldLayoutId xmlns:r="http://schemas.openxmlformats.org/officeDocument/2006/relationships" id="2147483659" r:id="R6ecea764e6d34384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9f961664f4a6c" /><Relationship Type="http://schemas.openxmlformats.org/officeDocument/2006/relationships/image" Target="/ppt/media/image.png" Id="R22e96b6f62bf4ef7" /><Relationship Type="http://schemas.openxmlformats.org/officeDocument/2006/relationships/image" Target="/ppt/media/image2.png" Id="Rc04476d90df348a7" /><Relationship Type="http://schemas.openxmlformats.org/officeDocument/2006/relationships/notesSlide" Target="/ppt/notesSlides/notesSlide1.xml" Id="R5e7ca2bcf2004b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808715e564513" /><Relationship Type="http://schemas.openxmlformats.org/officeDocument/2006/relationships/image" Target="/ppt/media/image2.png" Id="R36ef6ffbcf35426b" /><Relationship Type="http://schemas.openxmlformats.org/officeDocument/2006/relationships/image" Target="/ppt/media/image3.png" Id="R318eae6c9d374d80" /><Relationship Type="http://schemas.openxmlformats.org/officeDocument/2006/relationships/image" Target="/ppt/media/image4.png" Id="R93ce77f865f040c1" /><Relationship Type="http://schemas.openxmlformats.org/officeDocument/2006/relationships/notesSlide" Target="/ppt/notesSlides/notesSlide2.xml" Id="R4e18147474f040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7b76e50256486f" /><Relationship Type="http://schemas.openxmlformats.org/officeDocument/2006/relationships/image" Target="/ppt/media/image2.png" Id="R98c30e2848034c33" /><Relationship Type="http://schemas.openxmlformats.org/officeDocument/2006/relationships/image" Target="/ppt/media/image3.png" Id="Rbf647aa97cac42c5" /><Relationship Type="http://schemas.openxmlformats.org/officeDocument/2006/relationships/image" Target="/ppt/media/image5.png" Id="Rb456ae9cbaf24fa7" /><Relationship Type="http://schemas.openxmlformats.org/officeDocument/2006/relationships/notesSlide" Target="/ppt/notesSlides/notesSlide3.xml" Id="Rcad1a3ec59ee4d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3bdc749524d95" /><Relationship Type="http://schemas.openxmlformats.org/officeDocument/2006/relationships/image" Target="/ppt/media/image2.png" Id="R97a62091d37c4f61" /><Relationship Type="http://schemas.openxmlformats.org/officeDocument/2006/relationships/image" Target="/ppt/media/image3.png" Id="Re2d3e8ab933c4caa" /><Relationship Type="http://schemas.openxmlformats.org/officeDocument/2006/relationships/image" Target="/ppt/media/image6.png" Id="R3754cd1e12884932" /><Relationship Type="http://schemas.openxmlformats.org/officeDocument/2006/relationships/notesSlide" Target="/ppt/notesSlides/notesSlide4.xml" Id="R99013620b33340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d57a30a9c4263" /><Relationship Type="http://schemas.openxmlformats.org/officeDocument/2006/relationships/image" Target="/ppt/media/image2.png" Id="R8b229b43ffcd403b" /><Relationship Type="http://schemas.openxmlformats.org/officeDocument/2006/relationships/image" Target="/ppt/media/image3.png" Id="R9b23730203124ab0" /><Relationship Type="http://schemas.openxmlformats.org/officeDocument/2006/relationships/notesSlide" Target="/ppt/notesSlides/notesSlide5.xml" Id="R37ba9930b9b7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c2cd8853134dd1" /><Relationship Type="http://schemas.openxmlformats.org/officeDocument/2006/relationships/image" Target="/ppt/media/image2.png" Id="Rebcb4beddbab42d2" /><Relationship Type="http://schemas.openxmlformats.org/officeDocument/2006/relationships/image" Target="/ppt/media/image3.png" Id="R15102a6a2f6440d6" /><Relationship Type="http://schemas.openxmlformats.org/officeDocument/2006/relationships/hyperlink" Target="https://ieeexplore.ieee.org/stamp/stamp.jsp?arnumber=11039626" TargetMode="External" Id="Rf98f90d49bd44d4f" /><Relationship Type="http://schemas.openxmlformats.org/officeDocument/2006/relationships/hyperlink" Target="https://ieeexplore.ieee.org/stamp/stamp.jsp?arnumber=10613907" TargetMode="External" Id="Ra758017803a14c2c" /><Relationship Type="http://schemas.openxmlformats.org/officeDocument/2006/relationships/hyperlink" Target="https://ieeexplore.ieee.org/stamp/stamp.jsp?arnumber=11155089" TargetMode="External" Id="Rb19ae3522f1a42d4" /><Relationship Type="http://schemas.openxmlformats.org/officeDocument/2006/relationships/hyperlink" Target="https://arxiv.org/pdf/2302.04633" TargetMode="External" Id="Rc1309f20f266478e" /><Relationship Type="http://schemas.openxmlformats.org/officeDocument/2006/relationships/hyperlink" Target="https://doi.org/10.56979/701/2024" TargetMode="External" Id="Rf146c5378bcb4c9a" /><Relationship Type="http://schemas.openxmlformats.org/officeDocument/2006/relationships/notesSlide" Target="/ppt/notesSlides/notesSlide6.xml" Id="R4183cc1747fe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ff48ce4ea94542" /><Relationship Type="http://schemas.openxmlformats.org/officeDocument/2006/relationships/image" Target="/ppt/media/image2.png" Id="Ra6e3c153e6d24071" /><Relationship Type="http://schemas.openxmlformats.org/officeDocument/2006/relationships/image" Target="/ppt/media/image3.png" Id="R31840b3240f74d8c" /><Relationship Type="http://schemas.openxmlformats.org/officeDocument/2006/relationships/hyperlink" Target="https://ieeexplore.ieee.org/stamp/stamp.jsp?arnumber=11039626" TargetMode="External" Id="R44c64f10a50246bb" /><Relationship Type="http://schemas.openxmlformats.org/officeDocument/2006/relationships/hyperlink" Target="https://ieeexplore.ieee.org/stamp/stamp.jsp?arnumber=10613907" TargetMode="External" Id="R1aca0659a5994202" /><Relationship Type="http://schemas.openxmlformats.org/officeDocument/2006/relationships/hyperlink" Target="https://ieeexplore.ieee.org/stamp/stamp.jsp?arnumber=11155089" TargetMode="External" Id="R8d1a6fdd003a41f3" /><Relationship Type="http://schemas.openxmlformats.org/officeDocument/2006/relationships/hyperlink" Target="https://arxiv.org/pdf/2302.04633" TargetMode="External" Id="R140425f3db7849c8" /><Relationship Type="http://schemas.openxmlformats.org/officeDocument/2006/relationships/hyperlink" Target="https://doi.org/10.56979/701/2024" TargetMode="External" Id="Rbff18de4cf3d44d0" /><Relationship Type="http://schemas.openxmlformats.org/officeDocument/2006/relationships/notesSlide" Target="/ppt/notesSlides/notesSlide7.xml" Id="Rf21dac7dcce5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e96b6f62bf4ef7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62D28786-88B3-45E7-83C2-706AF07970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9964099" cy="1546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537235-90C1-48ED-9A68-0B8D2F1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500"/>
            <a:ext cx="6410391" cy="67179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</a:t>
            </a:r>
            <a:r>
              <a:rPr sz="24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–  </a:t>
            </a:r>
            <a:r>
              <a:rPr sz="2400">
                <a:solidFill>
                  <a:schemeClr val="tx2"/>
                </a:solidFill>
              </a:rPr>
              <a:t>SIH26139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 </a:t>
            </a:r>
            <a:r>
              <a:rPr sz="2400">
                <a:solidFill>
                  <a:schemeClr val="tx2"/>
                </a:solidFill>
              </a:rPr>
              <a:t>Hybrid Quantum Machine Learning Platform for Early Disease Detection .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 </a:t>
            </a:r>
            <a:r>
              <a:rPr sz="2400">
                <a:solidFill>
                  <a:schemeClr val="tx2"/>
                </a:solidFill>
              </a:rPr>
              <a:t>HealthTech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AlgoX</a:t>
            </a:r>
            <a:endParaRPr sz="2400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476d90df3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58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C7F80D-C67F-44AF-B3E9-923EB616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E8C04423-8E8A-40E6-8EC7-50AA37A9B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89281"/>
            <a:ext cx="10317598" cy="457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1">
                <a:latin typeface="Times New Roman"/>
                <a:ea typeface="Times New Roman"/>
                <a:cs typeface="Times New Roman"/>
              </a:rPr>
              <a:t>MedQure</a:t>
            </a:r>
            <a:r>
              <a:rPr sz="4000" b="1">
                <a:latin typeface="Times New Roman"/>
                <a:ea typeface="Times New Roman"/>
                <a:cs typeface="Times New Roman"/>
              </a:rPr>
              <a:t> Proposed Solution</a:t>
            </a:r>
            <a:br/>
            <a:endParaRPr sz="4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7A396A-AA7F-4276-B43F-C4866FC343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ACFD696-1539-49DD-8ADA-979A5F3081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6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f6ffbcf3542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CF2C18E8-B4A4-9CB5-84A0-D6D4F4F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8" y="771522"/>
            <a:ext cx="5341502" cy="5583239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Innovation and Uniqueness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</a:t>
            </a:r>
            <a:r>
              <a:rPr b="1">
                <a:solidFill>
                  <a:schemeClr val="tx1"/>
                </a:solidFill>
              </a:rPr>
              <a:t> Hybrid Quantum-Classical AI</a:t>
            </a:r>
            <a:r>
              <a:rPr>
                <a:solidFill>
                  <a:schemeClr val="tx1"/>
                </a:solidFill>
              </a:rPr>
              <a:t>: Combines classical preprocessing with Quantum Machine Learning for practical early disease detection.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</a:rPr>
              <a:t>• Adaptive Feature Reduction</a:t>
            </a:r>
            <a:r>
              <a:rPr>
                <a:solidFill>
                  <a:schemeClr val="tx1"/>
                </a:solidFill>
              </a:rPr>
              <a:t>: Reduces high-dimensional biomedical data before quantum encoding to work within limited qubit availability.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Quantum-Classical Benchmarking: </a:t>
            </a:r>
            <a:r>
              <a:rPr>
                <a:solidFill>
                  <a:schemeClr val="tx1"/>
                </a:solidFill>
              </a:rPr>
              <a:t>Compares quantum and classical models using the same processed dataset and evaluation metrics.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Explainable Prediction: </a:t>
            </a:r>
            <a:r>
              <a:rPr>
                <a:solidFill>
                  <a:schemeClr val="tx1"/>
                </a:solidFill>
              </a:rPr>
              <a:t>Provides prediction confidence and feature-level insights to make model outputs easier to understand.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Hardware-Ready Architecture: </a:t>
            </a:r>
            <a:r>
              <a:rPr>
                <a:solidFill>
                  <a:schemeClr val="tx1"/>
                </a:solidFill>
              </a:rPr>
              <a:t>Supports quantum simulators during development and can be extended to near-term quantum hardware.</a:t>
            </a:r>
          </a:p>
        </p:txBody>
      </p:sp>
      <p:pic>
        <p:nvPicPr>
          <p:cNvPr id="1537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eae6c9d374d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537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e77f865f040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7498" y="1063837"/>
            <a:ext cx="6178339" cy="52351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931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7354C5A-D3D7-4D5C-A379-75CBE79AF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4DE3CB-932B-4570-B2DA-5780E235F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02B13CC-2A8A-4A06-976B-F9F4825506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4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30e284803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946313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47aa97cac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6ae9cbaf24f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064" y="996938"/>
            <a:ext cx="11867872" cy="5357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2589E2D-28CA-49A9-BAC5-891E8A5D6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42057C-22E2-4260-B826-061DBBBB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A441F4A-0ECC-4EF0-86E9-A8D38D2B60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</a:t>
            </a:r>
            <a:r>
              <a:rPr>
                <a:solidFill>
                  <a:prstClr val="white"/>
                </a:solidFill>
              </a:rPr>
              <a:t>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62091d37c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3e8ab933c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4cd1e12884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95375"/>
            <a:ext cx="12192000" cy="5227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9EB1002-F09E-415A-8BC3-4E3230FA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146A52-E15A-4022-8D0B-5ED0BCD07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0DF8248-43E3-4B51-9F52-7B607DA3B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Team </a:t>
            </a: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29b43ffcd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3730203124a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7F21D715-CE6C-B2A2-68B3-C2ECA7C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3837"/>
            <a:ext cx="5394464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Early Disease Detection </a:t>
            </a:r>
            <a:r>
              <a:rPr sz="1600">
                <a:solidFill>
                  <a:schemeClr val="tx1"/>
                </a:solidFill>
              </a:rPr>
              <a:t>– Supports identification of potential disease risks at an earlier stage, enabling timely clinical attention and follow-up.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Improved Diagnostic Support </a:t>
            </a:r>
            <a:r>
              <a:rPr sz="1600">
                <a:solidFill>
                  <a:schemeClr val="tx1"/>
                </a:solidFill>
              </a:rPr>
              <a:t>– Provides AI-assisted predictions that can help healthcare professionals analyze complex biomedical data more efficiently.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Explainable Predictions </a:t>
            </a:r>
            <a:r>
              <a:rPr sz="1600">
                <a:solidFill>
                  <a:schemeClr val="tx1"/>
                </a:solidFill>
              </a:rPr>
              <a:t>– Shows confidence scores and important features behind predictions, improving transparency and user trust.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Research Advancement </a:t>
            </a:r>
            <a:r>
              <a:rPr sz="1600">
                <a:solidFill>
                  <a:schemeClr val="tx1"/>
                </a:solidFill>
              </a:rPr>
              <a:t>– Provides researchers with a platform to experiment with and benchmark Quantum Machine Learning on biomedical datasets.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Data-Driven Healthcare </a:t>
            </a:r>
            <a:r>
              <a:rPr sz="1600">
                <a:solidFill>
                  <a:schemeClr val="tx1"/>
                </a:solidFill>
              </a:rPr>
              <a:t>– Enables visualization of prediction results, model performance and comparative insights through an interactive dashboard.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8B9A7DD4-CB06-92D2-BC54-3B09C71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464" y="1063837"/>
            <a:ext cx="5415400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Hybrid &amp; Practical </a:t>
            </a:r>
            <a:r>
              <a:rPr sz="1600">
                <a:solidFill>
                  <a:srgbClr val="010000"/>
                </a:solidFill>
              </a:rPr>
              <a:t>– Combines classical ML with Quantum ML, making the solution usable with current quantum simulators and adaptable to near-term quantum hardware.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Handles Complex Data </a:t>
            </a:r>
            <a:r>
              <a:rPr sz="1600">
                <a:solidFill>
                  <a:srgbClr val="010000"/>
                </a:solidFill>
              </a:rPr>
              <a:t>– Uses preprocessing, feature selection and dimensionality reduction to manage high-dimensional biomedical datasets efficiently.</a:t>
            </a:r>
          </a:p>
          <a:p xmlns:a="http://schemas.openxmlformats.org/drawingml/2006/main">
            <a:endParaRPr sz="1600" b="1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Quantum-Classical Comparison </a:t>
            </a:r>
            <a:r>
              <a:rPr sz="1600">
                <a:solidFill>
                  <a:srgbClr val="010000"/>
                </a:solidFill>
              </a:rPr>
              <a:t>– Provides direct benchmarking of classical and quantum models using common evaluation metrics.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Transparent &amp; Trustworthy </a:t>
            </a:r>
            <a:r>
              <a:rPr sz="1600">
                <a:solidFill>
                  <a:srgbClr val="010000"/>
                </a:solidFill>
              </a:rPr>
              <a:t>– Provides explainability, confidence scores and feature-level insights instead of only presenting a final prediction.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Scalable Research Platform </a:t>
            </a:r>
            <a:r>
              <a:rPr sz="1600">
                <a:solidFill>
                  <a:srgbClr val="010000"/>
                </a:solidFill>
              </a:rPr>
              <a:t>– Supports multiple biomedical datasets, ML/QML algorithms and future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515C4CE-FE96-4248-8580-150558F5F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0E2EDA-50C1-4DA1-B7CB-26855345D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2DF6F32-9897-4AC7-96C0-AE7FAAAAF0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b4beddbab42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02a6a2f6440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f98f90d49bd44d4f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a758017803a14c2c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b19ae3522f1a42d4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c1309f20f266478e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f146c5378bcb4c9a"/>
              </a:rPr>
              <a:t>https://doi.org/10.56979/701/2024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515C4CE-FE96-4248-8580-150558F5F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DATASETS &amp; MODEL PERFORMANCE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0E2EDA-50C1-4DA1-B7CB-26855345D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2DF6F32-9897-4AC7-96C0-AE7FAAAAF0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3c153e6d240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40b3240f7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44c64f10a50246bb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1aca0659a5994202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8d1a6fdd003a41f3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140425f3db7849c8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bff18de4cf3d44d0"/>
              </a:rPr>
              <a:t>https://doi.org/10.56979/701/2024</a:t>
            </a:r>
            <a:endParaRPr sz="1600"/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55915B34-9548-4D62-A8AA-279DC0EB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543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3C2E5C9A-FEFC-408A-BA03-35376528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3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Datasets Used</a:t>
            </a:r>
          </a:p>
        </p:txBody>
      </p:sp>
      <p:graphicFrame>
        <p:nvGraphicFramePr>
          <p:cNvPr id="17426" name=""/>
          <p:cNvGraphicFramePr/>
          <p:nvPr/>
        </p:nvGraphicFramePr>
        <p:xfrm>
          <a:off xmlns:a="http://schemas.openxmlformats.org/drawingml/2006/main" x="266700" y="1181100"/>
          <a:ext xmlns:a="http://schemas.openxmlformats.org/drawingml/2006/main" cx="11658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610600"/>
              </a:tblGrid>
              <a:tr h="251460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Skin 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7 classes – ~10K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5 classes – retinal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Diabetes Health Indicators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253,680 rows × 22 columns – diabetes classification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70,000 rows × 13 columns – cardiovascular classification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3123534-FEF1-4B09-A5FC-AAC6B917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Model Performance</a:t>
            </a:r>
          </a:p>
        </p:txBody>
      </p:sp>
      <p:graphicFrame>
        <p:nvGraphicFramePr>
          <p:cNvPr id="17428" name=""/>
          <p:cNvGraphicFramePr/>
          <p:nvPr/>
        </p:nvGraphicFramePr>
        <p:xfrm>
          <a:off xmlns:a="http://schemas.openxmlformats.org/drawingml/2006/main" x="171450" y="2905125"/>
          <a:ext xmlns:a="http://schemas.openxmlformats.org/drawingml/2006/main" cx="118491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24375"/>
                <a:gridCol w="1209675"/>
                <a:gridCol w="1209675"/>
                <a:gridCol w="1209675"/>
                <a:gridCol w="1219200"/>
              </a:tblGrid>
              <a:tr h="236696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Cancer-8qub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Cancer-4qub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Skin Cancer-2qub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ConvNext_TIney_V2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0.8791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0.8799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38" b="1">
                          <a:solidFill>
                            <a:srgbClr val="111111"/>
                          </a:solidFill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classical baseline_rsenet18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late_fusion_hybrid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quantum_gated_branch(zoom+rotate)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0.7244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0.7302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2026-09-05T04:21:13.7330000Z</dcterms:created>
  <dcterms:modified xsi:type="dcterms:W3CDTF">2026-09-05T04:21:13.7330000Z</dcterms:modified>
</coreProperties>
</file>